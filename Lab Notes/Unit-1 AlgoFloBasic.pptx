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4"/>
  </p:notesMasterIdLst>
  <p:handoutMasterIdLst>
    <p:handoutMasterId r:id="rId85"/>
  </p:handoutMasterIdLst>
  <p:sldIdLst>
    <p:sldId id="283" r:id="rId2"/>
    <p:sldId id="348" r:id="rId3"/>
    <p:sldId id="424" r:id="rId4"/>
    <p:sldId id="337" r:id="rId5"/>
    <p:sldId id="379" r:id="rId6"/>
    <p:sldId id="338" r:id="rId7"/>
    <p:sldId id="339" r:id="rId8"/>
    <p:sldId id="340" r:id="rId9"/>
    <p:sldId id="393" r:id="rId10"/>
    <p:sldId id="342" r:id="rId11"/>
    <p:sldId id="402" r:id="rId12"/>
    <p:sldId id="394" r:id="rId13"/>
    <p:sldId id="395" r:id="rId14"/>
    <p:sldId id="425" r:id="rId15"/>
    <p:sldId id="390" r:id="rId16"/>
    <p:sldId id="347" r:id="rId17"/>
    <p:sldId id="392" r:id="rId18"/>
    <p:sldId id="389" r:id="rId19"/>
    <p:sldId id="346" r:id="rId20"/>
    <p:sldId id="426" r:id="rId21"/>
    <p:sldId id="326" r:id="rId22"/>
    <p:sldId id="327" r:id="rId23"/>
    <p:sldId id="427" r:id="rId24"/>
    <p:sldId id="404" r:id="rId25"/>
    <p:sldId id="405" r:id="rId26"/>
    <p:sldId id="406" r:id="rId27"/>
    <p:sldId id="428" r:id="rId28"/>
    <p:sldId id="334" r:id="rId29"/>
    <p:sldId id="429" r:id="rId30"/>
    <p:sldId id="397" r:id="rId31"/>
    <p:sldId id="398" r:id="rId32"/>
    <p:sldId id="399" r:id="rId33"/>
    <p:sldId id="400" r:id="rId34"/>
    <p:sldId id="430" r:id="rId35"/>
    <p:sldId id="328" r:id="rId36"/>
    <p:sldId id="329" r:id="rId37"/>
    <p:sldId id="330" r:id="rId38"/>
    <p:sldId id="401" r:id="rId39"/>
    <p:sldId id="407" r:id="rId40"/>
    <p:sldId id="408" r:id="rId41"/>
    <p:sldId id="409" r:id="rId42"/>
    <p:sldId id="349" r:id="rId43"/>
    <p:sldId id="350" r:id="rId44"/>
    <p:sldId id="351" r:id="rId45"/>
    <p:sldId id="435" r:id="rId46"/>
    <p:sldId id="410" r:id="rId47"/>
    <p:sldId id="391" r:id="rId48"/>
    <p:sldId id="411" r:id="rId49"/>
    <p:sldId id="431" r:id="rId50"/>
    <p:sldId id="358" r:id="rId51"/>
    <p:sldId id="359" r:id="rId52"/>
    <p:sldId id="360" r:id="rId53"/>
    <p:sldId id="361" r:id="rId54"/>
    <p:sldId id="362" r:id="rId55"/>
    <p:sldId id="363" r:id="rId56"/>
    <p:sldId id="364" r:id="rId57"/>
    <p:sldId id="365" r:id="rId58"/>
    <p:sldId id="412" r:id="rId59"/>
    <p:sldId id="366" r:id="rId60"/>
    <p:sldId id="367" r:id="rId61"/>
    <p:sldId id="413" r:id="rId62"/>
    <p:sldId id="414" r:id="rId63"/>
    <p:sldId id="415" r:id="rId64"/>
    <p:sldId id="423" r:id="rId65"/>
    <p:sldId id="432" r:id="rId66"/>
    <p:sldId id="369" r:id="rId67"/>
    <p:sldId id="434" r:id="rId68"/>
    <p:sldId id="370" r:id="rId69"/>
    <p:sldId id="371" r:id="rId70"/>
    <p:sldId id="372" r:id="rId71"/>
    <p:sldId id="417" r:id="rId72"/>
    <p:sldId id="418" r:id="rId73"/>
    <p:sldId id="437" r:id="rId74"/>
    <p:sldId id="436" r:id="rId75"/>
    <p:sldId id="433" r:id="rId76"/>
    <p:sldId id="419" r:id="rId77"/>
    <p:sldId id="420" r:id="rId78"/>
    <p:sldId id="421" r:id="rId79"/>
    <p:sldId id="422" r:id="rId80"/>
    <p:sldId id="376" r:id="rId81"/>
    <p:sldId id="377" r:id="rId82"/>
    <p:sldId id="344" r:id="rId83"/>
  </p:sldIdLst>
  <p:sldSz cx="12192000" cy="6858000"/>
  <p:notesSz cx="6858000" cy="9144000"/>
  <p:embeddedFontLst>
    <p:embeddedFont>
      <p:font typeface="Consolas" panose="020B0609020204030204" pitchFamily="49" charset="0"/>
      <p:regular r:id="rId86"/>
      <p:bold r:id="rId87"/>
      <p:italic r:id="rId88"/>
      <p:boldItalic r:id="rId89"/>
    </p:embeddedFont>
    <p:embeddedFont>
      <p:font typeface="Roboto Condensed" panose="02000000000000000000" pitchFamily="2" charset="0"/>
      <p:regular r:id="rId90"/>
      <p:bold r:id="rId91"/>
      <p:italic r:id="rId92"/>
      <p:boldItalic r:id="rId93"/>
    </p:embeddedFont>
    <p:embeddedFont>
      <p:font typeface="Roboto Condensed Light" panose="02000000000000000000" pitchFamily="2" charset="0"/>
      <p:regular r:id="rId94"/>
      <p:italic r:id="rId95"/>
    </p:embeddedFont>
    <p:embeddedFont>
      <p:font typeface="Wingdings 2" panose="05020102010507070707" pitchFamily="18" charset="2"/>
      <p:regular r:id="rId96"/>
    </p:embeddedFont>
    <p:embeddedFont>
      <p:font typeface="Wingdings 3" panose="05040102010807070707" pitchFamily="18" charset="2"/>
      <p:regular r:id="rId9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12Iwm4oDKAaP3X9rONVUA==" hashData="vYgxofRVrE9mp5ePMNoSAGHCulYam+bX1pKci6oi7haFvKKDV1UeHyIhyvTIr4TA0zQK+vXv1LG5KGUviFWWgQ=="/>
  <p:extLst>
    <p:ext uri="{521415D9-36F7-43E2-AB2F-B90AF26B5E84}">
      <p14:sectionLst xmlns:p14="http://schemas.microsoft.com/office/powerpoint/2010/main">
        <p14:section name="Unit-1 Introduction" id="{24355FF4-2E5E-47B1-86AE-50A7AD4A3696}">
          <p14:sldIdLst>
            <p14:sldId id="283"/>
            <p14:sldId id="348"/>
          </p14:sldIdLst>
        </p14:section>
        <p14:section name="Algorithm and Flowchart" id="{792FB330-0C0B-4DB9-B4E8-AF7341DBDA0C}">
          <p14:sldIdLst>
            <p14:sldId id="424"/>
            <p14:sldId id="337"/>
            <p14:sldId id="379"/>
            <p14:sldId id="338"/>
            <p14:sldId id="339"/>
            <p14:sldId id="340"/>
            <p14:sldId id="393"/>
            <p14:sldId id="342"/>
            <p14:sldId id="402"/>
            <p14:sldId id="394"/>
            <p14:sldId id="395"/>
          </p14:sldIdLst>
        </p14:section>
        <p14:section name="Overview of C" id="{6E63FD99-1E06-4BF4-9A91-2D8D04812F48}">
          <p14:sldIdLst>
            <p14:sldId id="425"/>
            <p14:sldId id="390"/>
            <p14:sldId id="347"/>
            <p14:sldId id="392"/>
            <p14:sldId id="389"/>
            <p14:sldId id="346"/>
          </p14:sldIdLst>
        </p14:section>
        <p14:section name="Header Files" id="{104FCB0B-C915-43FE-BB54-6D1084A3FD36}">
          <p14:sldIdLst>
            <p14:sldId id="426"/>
            <p14:sldId id="326"/>
            <p14:sldId id="327"/>
          </p14:sldIdLst>
        </p14:section>
        <p14:section name="Hello World Program" id="{D57B13E2-281B-4C2E-9443-559FA69AB146}">
          <p14:sldIdLst>
            <p14:sldId id="427"/>
            <p14:sldId id="404"/>
            <p14:sldId id="405"/>
            <p14:sldId id="406"/>
          </p14:sldIdLst>
        </p14:section>
        <p14:section name="Structure of C Programs" id="{F76ED3AD-7A6B-4430-A1A7-A3824D9399B9}">
          <p14:sldIdLst>
            <p14:sldId id="428"/>
            <p14:sldId id="334"/>
          </p14:sldIdLst>
        </p14:section>
        <p14:section name="Data Types" id="{157A9B74-AEFE-4048-9B6B-7A11CAC22DB9}">
          <p14:sldIdLst>
            <p14:sldId id="429"/>
            <p14:sldId id="397"/>
            <p14:sldId id="398"/>
            <p14:sldId id="399"/>
            <p14:sldId id="400"/>
          </p14:sldIdLst>
        </p14:section>
        <p14:section name="Input &amp; Output Operation" id="{568670A2-EDAC-4048-929A-463A09357ED9}">
          <p14:sldIdLst>
            <p14:sldId id="430"/>
            <p14:sldId id="328"/>
            <p14:sldId id="329"/>
            <p14:sldId id="330"/>
            <p14:sldId id="401"/>
            <p14:sldId id="407"/>
            <p14:sldId id="408"/>
            <p14:sldId id="409"/>
            <p14:sldId id="349"/>
            <p14:sldId id="350"/>
            <p14:sldId id="351"/>
            <p14:sldId id="435"/>
            <p14:sldId id="410"/>
            <p14:sldId id="391"/>
            <p14:sldId id="411"/>
          </p14:sldIdLst>
        </p14:section>
        <p14:section name="Operators in C" id="{941C9663-6FA1-49D4-B662-4BD337C028F8}">
          <p14:sldIdLst>
            <p14:sldId id="431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412"/>
            <p14:sldId id="366"/>
            <p14:sldId id="367"/>
            <p14:sldId id="413"/>
            <p14:sldId id="414"/>
            <p14:sldId id="415"/>
            <p14:sldId id="423"/>
          </p14:sldIdLst>
        </p14:section>
        <p14:section name="Arithmetic Expressions &amp; Evalutions" id="{4213138D-4952-4F91-AD7D-C006AA4C1B1E}">
          <p14:sldIdLst>
            <p14:sldId id="432"/>
            <p14:sldId id="369"/>
            <p14:sldId id="434"/>
            <p14:sldId id="370"/>
            <p14:sldId id="371"/>
            <p14:sldId id="372"/>
            <p14:sldId id="417"/>
            <p14:sldId id="418"/>
            <p14:sldId id="437"/>
            <p14:sldId id="436"/>
          </p14:sldIdLst>
        </p14:section>
        <p14:section name="Formatted Output" id="{90DF90A9-2389-4D2B-ADC7-DA4CE729EC44}">
          <p14:sldIdLst>
            <p14:sldId id="433"/>
            <p14:sldId id="419"/>
            <p14:sldId id="420"/>
            <p14:sldId id="421"/>
            <p14:sldId id="422"/>
            <p14:sldId id="376"/>
            <p14:sldId id="377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D81A60"/>
    <a:srgbClr val="ED524F"/>
    <a:srgbClr val="673BB7"/>
    <a:srgbClr val="607D8B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5.fntdata"/><Relationship Id="rId95" Type="http://schemas.openxmlformats.org/officeDocument/2006/relationships/font" Target="fonts/font10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3.fntdata"/><Relationship Id="rId91" Type="http://schemas.openxmlformats.org/officeDocument/2006/relationships/font" Target="fonts/font6.fntdata"/><Relationship Id="rId96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1.fntdata"/><Relationship Id="rId94" Type="http://schemas.openxmlformats.org/officeDocument/2006/relationships/font" Target="fonts/font9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8.fntdata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28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jpeg"/><Relationship Id="rId4" Type="http://schemas.openxmlformats.org/officeDocument/2006/relationships/image" Target="../media/image3.png"/><Relationship Id="rId9" Type="http://schemas.openxmlformats.org/officeDocument/2006/relationships/image" Target="../media/image12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918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Institute of Engineering &amp; Technology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#21CS01101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Overview of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Vishal.kansagara@darshan.ac.in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8200601076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Vishal Kansagara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Computer Programming Using C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(CPC)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/>
              <a:t>2301CS101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41F03FC-382E-D12F-1455-C7E583E79AC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900780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Algorithm and Flowchart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Overview of C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Header Files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Structure of C Programs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Data Types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Input &amp; Output Operation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Token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Operators in C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Arithmetic expression &amp; evaluation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Math Header File</a:t>
            </a:r>
          </a:p>
        </p:txBody>
      </p:sp>
    </p:spTree>
    <p:extLst>
      <p:ext uri="{BB962C8B-B14F-4D97-AF65-F5344CB8AC3E}">
        <p14:creationId xmlns:p14="http://schemas.microsoft.com/office/powerpoint/2010/main" val="315743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Algorithm and Flowchart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1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and Flowchart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1699490"/>
            <a:ext cx="11929641" cy="151559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274850" y="1699489"/>
            <a:ext cx="11473806" cy="1346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Step by step solution to any problem written in pseudocode form known as algorithm.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It is written in the form of English statement along with spoken language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It must have finite numbers of steps. </a:t>
            </a:r>
            <a:endParaRPr lang="en-US" dirty="0">
              <a:latin typeface="+mj-lt"/>
            </a:endParaRP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274849" y="1045234"/>
            <a:ext cx="3105660" cy="654255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600" dirty="0">
                <a:solidFill>
                  <a:srgbClr val="FFC000"/>
                </a:solidFill>
              </a:rPr>
              <a:t>Algorithm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274850" y="4203377"/>
            <a:ext cx="11473806" cy="1346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Symbolic representation of an algorithm is known as flowchart.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It is easy to understand compare to an algorithm.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Represents a flow of the process 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274849" y="3549122"/>
            <a:ext cx="3105660" cy="654255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600" dirty="0">
                <a:solidFill>
                  <a:srgbClr val="FFC000"/>
                </a:solidFill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5564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used in flowchart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933043" y="3178624"/>
            <a:ext cx="2922497" cy="822960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078341" y="3192949"/>
            <a:ext cx="2922497" cy="822960"/>
          </a:xfrm>
          <a:prstGeom prst="flowChartDecision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932691" y="5005171"/>
            <a:ext cx="2923200" cy="824400"/>
            <a:chOff x="2146779" y="4266198"/>
            <a:chExt cx="2662517" cy="612648"/>
          </a:xfrm>
        </p:grpSpPr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A44A2616-A732-4F4F-AFF9-A00BE4DC6DA1}"/>
                </a:ext>
              </a:extLst>
            </p:cNvPr>
            <p:cNvSpPr/>
            <p:nvPr/>
          </p:nvSpPr>
          <p:spPr>
            <a:xfrm>
              <a:off x="2146779" y="4266198"/>
              <a:ext cx="2662517" cy="612648"/>
            </a:xfrm>
            <a:prstGeom prst="flowChartProcess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A44A2616-A732-4F4F-AFF9-A00BE4DC6DA1}"/>
                </a:ext>
              </a:extLst>
            </p:cNvPr>
            <p:cNvSpPr/>
            <p:nvPr/>
          </p:nvSpPr>
          <p:spPr>
            <a:xfrm>
              <a:off x="2435970" y="4266198"/>
              <a:ext cx="2084135" cy="612648"/>
            </a:xfrm>
            <a:prstGeom prst="flowChartProcess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999589" y="4706322"/>
            <a:ext cx="1080000" cy="1080000"/>
            <a:chOff x="8086568" y="3930458"/>
            <a:chExt cx="778454" cy="8522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>
              <a:off x="8475794" y="4422746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 rot="16200000">
              <a:off x="8685020" y="4178453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 rot="5400000">
              <a:off x="8266566" y="4178453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 flipV="1">
              <a:off x="8475794" y="3930458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932691" y="5860474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Subroutine</a:t>
            </a:r>
            <a:endParaRPr lang="en-IN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32691" y="2298023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Start / Stop</a:t>
            </a:r>
            <a:endParaRPr lang="en-IN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7989" y="2292905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Input / Output</a:t>
            </a:r>
            <a:endParaRPr lang="en-IN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32691" y="4014079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Process</a:t>
            </a:r>
            <a:endParaRPr lang="en-IN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77989" y="4045012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 Making</a:t>
            </a:r>
            <a:endParaRPr lang="en-IN" dirty="0"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77989" y="5852541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Arrows</a:t>
            </a:r>
            <a:endParaRPr lang="en-IN" dirty="0">
              <a:latin typeface="+mj-lt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32690" y="1442363"/>
            <a:ext cx="2922849" cy="850542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7077636" y="1442363"/>
            <a:ext cx="2923201" cy="84668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026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Number is positive or negative (Flowchart and Algorithm)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542" y="3193145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no &gt;=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95973" y="3223884"/>
            <a:ext cx="6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93095" y="3211527"/>
            <a:ext cx="61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462953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106115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4323379" y="4844036"/>
            <a:ext cx="805570" cy="136897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1488459" y="4839581"/>
            <a:ext cx="805570" cy="1368972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898650" y="45039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Negative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9786" y="224277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no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568" y="45130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Positive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>
                <a:solidFill>
                  <a:schemeClr val="tx1"/>
                </a:solidFill>
              </a:rPr>
              <a:t>Read no.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>
                <a:solidFill>
                  <a:schemeClr val="tx1"/>
                </a:solidFill>
              </a:rPr>
              <a:t>If no is greater than equal zero,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4.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>
                <a:solidFill>
                  <a:schemeClr val="tx1"/>
                </a:solidFill>
              </a:rPr>
              <a:t>Print no is a negative number,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5.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>
                <a:solidFill>
                  <a:schemeClr val="tx1"/>
                </a:solidFill>
              </a:rPr>
              <a:t>Print no is a positive number.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>
                <a:solidFill>
                  <a:schemeClr val="tx1"/>
                </a:solidFill>
              </a:rPr>
              <a:t>Stop.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Number is odd or even </a:t>
            </a:r>
            <a:r>
              <a:rPr lang="en-US" sz="3600" dirty="0"/>
              <a:t>(Flowchart and Algorithm)</a:t>
            </a:r>
            <a:endParaRPr lang="en-US" dirty="0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542" y="3193145"/>
            <a:ext cx="2922497" cy="822960"/>
          </a:xfrm>
          <a:prstGeom prst="flowChartDecision">
            <a:avLst/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no % 2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95973" y="3223884"/>
            <a:ext cx="6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93095" y="3211527"/>
            <a:ext cx="61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ln w="25400">
            <a:solidFill>
              <a:schemeClr val="tx1">
                <a:lumMod val="90000"/>
                <a:lumOff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462953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106115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4323379" y="4844036"/>
            <a:ext cx="805570" cy="136897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1488459" y="4839581"/>
            <a:ext cx="805570" cy="1368972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898650" y="45039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Odd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9786" y="224277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no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568" y="45130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Even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>
                <a:solidFill>
                  <a:schemeClr val="tx1"/>
                </a:solidFill>
              </a:rPr>
              <a:t>Read no.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>
                <a:solidFill>
                  <a:schemeClr val="tx1"/>
                </a:solidFill>
              </a:rPr>
              <a:t>If no mod 2 = 0,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4.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>
                <a:solidFill>
                  <a:schemeClr val="tx1"/>
                </a:solidFill>
              </a:rPr>
              <a:t>Print no is a odd,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5.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>
                <a:solidFill>
                  <a:schemeClr val="tx1"/>
                </a:solidFill>
              </a:rPr>
              <a:t>Print no is a even.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>
                <a:solidFill>
                  <a:schemeClr val="tx1"/>
                </a:solidFill>
              </a:rPr>
              <a:t>Stop.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Largest number from 2 numbers </a:t>
            </a:r>
            <a:r>
              <a:rPr lang="en-US" sz="3600" dirty="0"/>
              <a:t>(Flowchart and Algorithm)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542" y="3193145"/>
            <a:ext cx="2922497" cy="822960"/>
          </a:xfrm>
          <a:prstGeom prst="flowChartDecision">
            <a:avLst/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a&gt;b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95973" y="3223884"/>
            <a:ext cx="6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568" y="45130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a is largest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93095" y="3211527"/>
            <a:ext cx="61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>
                <a:solidFill>
                  <a:schemeClr val="tx1"/>
                </a:solidFill>
              </a:rPr>
              <a:t>Read a, b.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>
                <a:solidFill>
                  <a:schemeClr val="tx1"/>
                </a:solidFill>
              </a:rPr>
              <a:t>If a&gt;b,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4.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>
                <a:solidFill>
                  <a:schemeClr val="tx1"/>
                </a:solidFill>
              </a:rPr>
              <a:t>Print b is largest number,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5.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>
                <a:solidFill>
                  <a:schemeClr val="tx1"/>
                </a:solidFill>
              </a:rPr>
              <a:t>Print a is largest number.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>
                <a:solidFill>
                  <a:schemeClr val="tx1"/>
                </a:solidFill>
              </a:rPr>
              <a:t>Stop.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ln w="25400">
            <a:solidFill>
              <a:schemeClr val="tx1">
                <a:lumMod val="90000"/>
                <a:lumOff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462953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106115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4323379" y="4844036"/>
            <a:ext cx="805570" cy="136897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1488459" y="4839581"/>
            <a:ext cx="805570" cy="1368972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898650" y="45039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b is largest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9786" y="224277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a, b</a:t>
            </a:r>
          </a:p>
        </p:txBody>
      </p:sp>
    </p:spTree>
    <p:extLst>
      <p:ext uri="{BB962C8B-B14F-4D97-AF65-F5344CB8AC3E}">
        <p14:creationId xmlns:p14="http://schemas.microsoft.com/office/powerpoint/2010/main" val="220751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8" grpId="0" animBg="1"/>
      <p:bldP spid="9" grpId="0"/>
      <p:bldP spid="11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Largest number from 3 numbers (Flowchart)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4578561" y="2922215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a&gt;b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523992" y="2952954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156951" y="4952026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c is largest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19811" y="99586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3921114" y="2940597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24942" y="5790688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39809" y="1605103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39805" y="2584489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18" idx="0"/>
          </p:cNvCxnSpPr>
          <p:nvPr/>
        </p:nvCxnSpPr>
        <p:spPr>
          <a:xfrm>
            <a:off x="7523992" y="3331194"/>
            <a:ext cx="1856922" cy="44862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4" idx="1"/>
            <a:endCxn id="19" idx="0"/>
          </p:cNvCxnSpPr>
          <p:nvPr/>
        </p:nvCxnSpPr>
        <p:spPr>
          <a:xfrm rot="10800000" flipV="1">
            <a:off x="3078109" y="3333694"/>
            <a:ext cx="1500452" cy="446121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9" idx="3"/>
          </p:cNvCxnSpPr>
          <p:nvPr/>
        </p:nvCxnSpPr>
        <p:spPr>
          <a:xfrm rot="10800000" flipV="1">
            <a:off x="6764942" y="5564674"/>
            <a:ext cx="976678" cy="532338"/>
          </a:xfrm>
          <a:prstGeom prst="bentConnector3">
            <a:avLst>
              <a:gd name="adj1" fmla="val 3188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6" idx="3"/>
            <a:endCxn id="9" idx="1"/>
          </p:cNvCxnSpPr>
          <p:nvPr/>
        </p:nvCxnSpPr>
        <p:spPr>
          <a:xfrm rot="16200000" flipH="1">
            <a:off x="4482008" y="5254078"/>
            <a:ext cx="532338" cy="115353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6268932" y="4942924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b is largest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707805" y="197184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</a:t>
            </a:r>
            <a:r>
              <a:rPr lang="en-US" dirty="0" err="1">
                <a:solidFill>
                  <a:schemeClr val="tx1"/>
                </a:solidFill>
              </a:rPr>
              <a:t>a,b,c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919665" y="3779816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b&gt;c</a:t>
            </a:r>
          </a:p>
        </p:txBody>
      </p: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616860" y="3779816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a&gt;c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9380913" y="4942923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c is largest</a:t>
            </a: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4970" y="4911150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a is largest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40013" y="3798199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19" idx="1"/>
            <a:endCxn id="21" idx="0"/>
          </p:cNvCxnSpPr>
          <p:nvPr/>
        </p:nvCxnSpPr>
        <p:spPr>
          <a:xfrm rot="10800000" flipV="1">
            <a:off x="1376970" y="4191296"/>
            <a:ext cx="239890" cy="719854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262218" y="3790784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16" idx="0"/>
          </p:cNvCxnSpPr>
          <p:nvPr/>
        </p:nvCxnSpPr>
        <p:spPr>
          <a:xfrm rot="5400000">
            <a:off x="7380778" y="4404036"/>
            <a:ext cx="759043" cy="318733"/>
          </a:xfrm>
          <a:prstGeom prst="bentConnector3">
            <a:avLst>
              <a:gd name="adj1" fmla="val 862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570850" y="3813056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2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19" idx="3"/>
          </p:cNvCxnSpPr>
          <p:nvPr/>
        </p:nvCxnSpPr>
        <p:spPr>
          <a:xfrm>
            <a:off x="4539357" y="4191296"/>
            <a:ext cx="271459" cy="760730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0744795" y="3815484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29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18" idx="3"/>
          </p:cNvCxnSpPr>
          <p:nvPr/>
        </p:nvCxnSpPr>
        <p:spPr>
          <a:xfrm>
            <a:off x="10842162" y="4191296"/>
            <a:ext cx="622007" cy="751627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3064349" y="3837407"/>
            <a:ext cx="573214" cy="394797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6783058" y="5555570"/>
            <a:ext cx="3972200" cy="541441"/>
          </a:xfrm>
          <a:prstGeom prst="bentConnector3">
            <a:avLst>
              <a:gd name="adj1" fmla="val 26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8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4" grpId="0"/>
      <p:bldP spid="26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Largest number from 3 numbers 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883253" cy="559056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/>
              <a:t>Read a, b, c.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/>
              <a:t>If a&gt;b, </a:t>
            </a:r>
          </a:p>
          <a:p>
            <a:pPr marL="0" indent="0">
              <a:buNone/>
            </a:pPr>
            <a:r>
              <a:rPr lang="en-IN" dirty="0"/>
              <a:t>	go to step 5.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/>
              <a:t>If b&gt;c, </a:t>
            </a:r>
          </a:p>
          <a:p>
            <a:pPr marL="0" indent="0">
              <a:buNone/>
            </a:pPr>
            <a:r>
              <a:rPr lang="en-IN" dirty="0"/>
              <a:t>	go to step 8.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/>
              <a:t>Print c is largest number, </a:t>
            </a:r>
          </a:p>
          <a:p>
            <a:pPr marL="0" indent="0">
              <a:buNone/>
            </a:pPr>
            <a:r>
              <a:rPr lang="en-IN" dirty="0"/>
              <a:t>	go to step 9.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/>
              <a:t>If a&gt;c, </a:t>
            </a:r>
          </a:p>
          <a:p>
            <a:pPr marL="0" indent="0">
              <a:buNone/>
            </a:pPr>
            <a:r>
              <a:rPr lang="en-IN" dirty="0"/>
              <a:t>	go to step 7.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14433" y="863443"/>
            <a:ext cx="588325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6: </a:t>
            </a:r>
            <a:r>
              <a:rPr lang="en-IN" dirty="0"/>
              <a:t>Print c is largest number,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/>
              <a:t>	go to step 9.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7: </a:t>
            </a:r>
            <a:r>
              <a:rPr lang="en-IN" dirty="0"/>
              <a:t>Print a is largest number,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/>
              <a:t>	go to step 9.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8: </a:t>
            </a:r>
            <a:r>
              <a:rPr lang="en-IN" dirty="0"/>
              <a:t>Print b is largest number.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9: </a:t>
            </a:r>
            <a:r>
              <a:rPr lang="en-IN" dirty="0"/>
              <a:t>Stop.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5667496" y="86344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74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Print 1 to 10</a:t>
            </a:r>
            <a:endParaRPr lang="en-US" dirty="0"/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829" y="4176166"/>
            <a:ext cx="2922497" cy="822960"/>
          </a:xfrm>
          <a:prstGeom prst="flowChartDecision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Is a&lt;=10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73326" y="4123724"/>
            <a:ext cx="82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False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6027" y="3225048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Print 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  <a:noFill/>
          <a:ln w="6350" cap="flat" cmpd="sng" algn="ctr">
            <a:solidFill>
              <a:srgbClr val="909090"/>
            </a:solidFill>
            <a:prstDash val="solid"/>
            <a:miter lim="800000"/>
          </a:ln>
          <a:effectLst/>
        </p:spPr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Start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56282" y="4130030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True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1: Initialize a to 1.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2: Print a.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3: Repeat step 2 until a&lt;=10.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>
                <a:solidFill>
                  <a:schemeClr val="tx1"/>
                </a:solidFill>
                <a:latin typeface="+mj-lt"/>
              </a:rPr>
              <a:t>	Step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3.1: a=a+1. 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4: Stop.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Stop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23" idx="3"/>
          </p:cNvCxnSpPr>
          <p:nvPr/>
        </p:nvCxnSpPr>
        <p:spPr>
          <a:xfrm flipH="1">
            <a:off x="4041678" y="4587646"/>
            <a:ext cx="731648" cy="1343661"/>
          </a:xfrm>
          <a:prstGeom prst="bentConnector4">
            <a:avLst>
              <a:gd name="adj1" fmla="val -84807"/>
              <a:gd name="adj2" fmla="val 100219"/>
            </a:avLst>
          </a:prstGeom>
          <a:noFill/>
          <a:ln w="25400" cap="flat" cmpd="sng" algn="ctr">
            <a:solidFill>
              <a:srgbClr val="00B0F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23" idx="1"/>
            <a:endCxn id="37" idx="2"/>
          </p:cNvCxnSpPr>
          <p:nvPr/>
        </p:nvCxnSpPr>
        <p:spPr>
          <a:xfrm rot="10800000">
            <a:off x="1054899" y="3840878"/>
            <a:ext cx="795930" cy="746768"/>
          </a:xfrm>
          <a:prstGeom prst="bentConnector2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601578" y="2242771"/>
            <a:ext cx="1440000" cy="612648"/>
          </a:xfrm>
          <a:prstGeom prst="rect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a=1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7225" y="3831276"/>
            <a:ext cx="3" cy="360000"/>
          </a:xfrm>
          <a:prstGeom prst="straightConnector1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34899" y="3228230"/>
            <a:ext cx="1440000" cy="612648"/>
          </a:xfrm>
          <a:prstGeom prst="rect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a=a+1</a:t>
            </a:r>
          </a:p>
        </p:txBody>
      </p:sp>
      <p:cxnSp>
        <p:nvCxnSpPr>
          <p:cNvPr id="38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 flipH="1" flipV="1">
            <a:off x="2082011" y="2002213"/>
            <a:ext cx="198907" cy="2253128"/>
          </a:xfrm>
          <a:prstGeom prst="bentConnector2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8361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27" grpId="0" animBg="1"/>
      <p:bldP spid="28" grpId="0"/>
      <p:bldP spid="30" grpId="0" animBg="1"/>
      <p:bldP spid="35" grpId="0" animBg="1"/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Prime Number (Flowchart)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4679274" y="2512618"/>
            <a:ext cx="2759835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</a:t>
            </a:r>
            <a:r>
              <a:rPr lang="en-US" sz="1600">
                <a:solidFill>
                  <a:schemeClr val="tx1"/>
                </a:solidFill>
              </a:rPr>
              <a:t>I &lt;=N-1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600932" y="2422365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76000" y="794790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3811288" y="2441843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1157776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7504029" y="2776412"/>
            <a:ext cx="940494" cy="732153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3174634" y="2776534"/>
            <a:ext cx="1500452" cy="446121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775109" y="1408549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242956" y="3094416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1536137" y="3493476"/>
            <a:ext cx="239890" cy="719854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6505557" y="3463748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6461459" y="3973699"/>
            <a:ext cx="759043" cy="318733"/>
          </a:xfrm>
          <a:prstGeom prst="bentConnector3">
            <a:avLst>
              <a:gd name="adj1" fmla="val 862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466534" y="3101672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9847559" y="3403508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29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9847559" y="3762677"/>
            <a:ext cx="622007" cy="751627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105235" y="1726944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775110" y="1973197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I=2, count=0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2268432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19859" y="3230420"/>
            <a:ext cx="2759835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N%I=0</a:t>
            </a:r>
          </a:p>
        </p:txBody>
      </p:sp>
      <p:sp>
        <p:nvSpPr>
          <p:cNvPr id="47" name="Flowchart: Decision 46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075666" y="3500805"/>
            <a:ext cx="2739416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</a:t>
            </a:r>
            <a:r>
              <a:rPr lang="en-US" sz="1600">
                <a:solidFill>
                  <a:schemeClr val="tx1"/>
                </a:solidFill>
              </a:rPr>
              <a:t>count==0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97041" y="4531896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Prime</a:t>
            </a:r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9065400" y="4544080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 Prime</a:t>
            </a:r>
          </a:p>
        </p:txBody>
      </p:sp>
      <p:cxnSp>
        <p:nvCxnSpPr>
          <p:cNvPr id="5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3386142" y="3747935"/>
            <a:ext cx="1502134" cy="987530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40283" y="4225514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count=count+1</a:t>
            </a:r>
            <a:endParaRPr lang="en-IN" dirty="0"/>
          </a:p>
        </p:txBody>
      </p:sp>
      <p:sp>
        <p:nvSpPr>
          <p:cNvPr id="55" name="Rectangle 54"/>
          <p:cNvSpPr/>
          <p:nvPr/>
        </p:nvSpPr>
        <p:spPr>
          <a:xfrm>
            <a:off x="2313619" y="4982880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I=I+1</a:t>
            </a:r>
            <a:endParaRPr lang="en-IN" dirty="0"/>
          </a:p>
        </p:txBody>
      </p:sp>
      <p:cxnSp>
        <p:nvCxnSpPr>
          <p:cNvPr id="5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55" idx="1"/>
          </p:cNvCxnSpPr>
          <p:nvPr/>
        </p:nvCxnSpPr>
        <p:spPr>
          <a:xfrm>
            <a:off x="1549727" y="4544080"/>
            <a:ext cx="763892" cy="591991"/>
          </a:xfrm>
          <a:prstGeom prst="bentConnector3">
            <a:avLst>
              <a:gd name="adj1" fmla="val -1992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2272342" y="2391558"/>
            <a:ext cx="3763843" cy="3399130"/>
            <a:chOff x="2290723" y="2391558"/>
            <a:chExt cx="3763843" cy="3399130"/>
          </a:xfrm>
        </p:grpSpPr>
        <p:cxnSp>
          <p:nvCxnSpPr>
            <p:cNvPr id="61" name="Elbow Connector 10">
              <a:extLst>
                <a:ext uri="{FF2B5EF4-FFF2-40B4-BE49-F238E27FC236}">
                  <a16:creationId xmlns:a16="http://schemas.microsoft.com/office/drawing/2014/main" id="{F6F7AE6B-FA07-4029-819A-7180D7D063DD}"/>
                </a:ext>
              </a:extLst>
            </p:cNvPr>
            <p:cNvCxnSpPr/>
            <p:nvPr/>
          </p:nvCxnSpPr>
          <p:spPr>
            <a:xfrm flipV="1">
              <a:off x="2290724" y="2391558"/>
              <a:ext cx="3763842" cy="3399130"/>
            </a:xfrm>
            <a:prstGeom prst="bentConnector3">
              <a:avLst>
                <a:gd name="adj1" fmla="val -5478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Elbow Connector 91"/>
            <p:cNvCxnSpPr/>
            <p:nvPr/>
          </p:nvCxnSpPr>
          <p:spPr>
            <a:xfrm rot="5400000">
              <a:off x="2724912" y="4855073"/>
              <a:ext cx="501426" cy="1369804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012806" y="5719011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9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94" idx="1"/>
          </p:cNvCxnSpPr>
          <p:nvPr/>
        </p:nvCxnSpPr>
        <p:spPr>
          <a:xfrm>
            <a:off x="6693720" y="4858020"/>
            <a:ext cx="1319086" cy="1048053"/>
          </a:xfrm>
          <a:prstGeom prst="bentConnector3">
            <a:avLst>
              <a:gd name="adj1" fmla="val 985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94" idx="3"/>
          </p:cNvCxnSpPr>
          <p:nvPr/>
        </p:nvCxnSpPr>
        <p:spPr>
          <a:xfrm rot="5400000">
            <a:off x="9427506" y="4864011"/>
            <a:ext cx="1067362" cy="101676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0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17" grpId="0" animBg="1"/>
      <p:bldP spid="22" grpId="0"/>
      <p:bldP spid="24" grpId="0"/>
      <p:bldP spid="26" grpId="0"/>
      <p:bldP spid="28" grpId="0"/>
      <p:bldP spid="33" grpId="0" animBg="1"/>
      <p:bldP spid="41" grpId="0" animBg="1"/>
      <p:bldP spid="47" grpId="0" animBg="1"/>
      <p:bldP spid="48" grpId="0" animBg="1"/>
      <p:bldP spid="51" grpId="0" animBg="1"/>
      <p:bldP spid="54" grpId="0" animBg="1"/>
      <p:bldP spid="55" grpId="0" animBg="1"/>
      <p:bldP spid="9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Factorial (Flowchart)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4679274" y="2512618"/>
            <a:ext cx="2759835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I &lt;=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600932" y="2422365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76000" y="794790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3811288" y="2441843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1157776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7476409" y="2775562"/>
            <a:ext cx="928461" cy="764504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3197903" y="2791697"/>
            <a:ext cx="1500452" cy="446121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844394" y="1380514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105235" y="1726944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775110" y="1973197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I=1, ANS=1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2268432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872533" y="3234123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ANS=ANS*I</a:t>
            </a:r>
            <a:endParaRPr lang="en-IN" dirty="0"/>
          </a:p>
        </p:txBody>
      </p:sp>
      <p:sp>
        <p:nvSpPr>
          <p:cNvPr id="55" name="Rectangle 54"/>
          <p:cNvSpPr/>
          <p:nvPr/>
        </p:nvSpPr>
        <p:spPr>
          <a:xfrm>
            <a:off x="1872533" y="4384680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I=I+1</a:t>
            </a:r>
            <a:endParaRPr lang="en-IN" dirty="0"/>
          </a:p>
        </p:txBody>
      </p:sp>
      <p:grpSp>
        <p:nvGrpSpPr>
          <p:cNvPr id="93" name="Group 92"/>
          <p:cNvGrpSpPr/>
          <p:nvPr/>
        </p:nvGrpSpPr>
        <p:grpSpPr>
          <a:xfrm>
            <a:off x="1786989" y="2385191"/>
            <a:ext cx="4279639" cy="3399130"/>
            <a:chOff x="2290723" y="2391851"/>
            <a:chExt cx="4279639" cy="3399130"/>
          </a:xfrm>
        </p:grpSpPr>
        <p:cxnSp>
          <p:nvCxnSpPr>
            <p:cNvPr id="61" name="Elbow Connector 10">
              <a:extLst>
                <a:ext uri="{FF2B5EF4-FFF2-40B4-BE49-F238E27FC236}">
                  <a16:creationId xmlns:a16="http://schemas.microsoft.com/office/drawing/2014/main" id="{F6F7AE6B-FA07-4029-819A-7180D7D063DD}"/>
                </a:ext>
              </a:extLst>
            </p:cNvPr>
            <p:cNvCxnSpPr/>
            <p:nvPr/>
          </p:nvCxnSpPr>
          <p:spPr>
            <a:xfrm flipV="1">
              <a:off x="2806520" y="2391851"/>
              <a:ext cx="3763842" cy="3399130"/>
            </a:xfrm>
            <a:prstGeom prst="bentConnector3">
              <a:avLst>
                <a:gd name="adj1" fmla="val -2951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Elbow Connector 91"/>
            <p:cNvCxnSpPr>
              <a:stCxn id="55" idx="2"/>
            </p:cNvCxnSpPr>
            <p:nvPr/>
          </p:nvCxnSpPr>
          <p:spPr>
            <a:xfrm rot="5400000">
              <a:off x="2453012" y="4535433"/>
              <a:ext cx="1092966" cy="1417544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7746754" y="4641668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>
            <a:off x="3204533" y="3540505"/>
            <a:ext cx="0" cy="844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arallelogram 4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7104855" y="3537300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ANS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8404870" y="3844115"/>
            <a:ext cx="29899" cy="8446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13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17" grpId="0" animBg="1"/>
      <p:bldP spid="33" grpId="0" animBg="1"/>
      <p:bldP spid="54" grpId="0" animBg="1"/>
      <p:bldP spid="55" grpId="0" animBg="1"/>
      <p:bldP spid="9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Overview of 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31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C?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17342" y="2535551"/>
            <a:ext cx="5858455" cy="3800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4960"/>
            <a:ext cx="11929641" cy="5543549"/>
          </a:xfrm>
        </p:spPr>
        <p:txBody>
          <a:bodyPr/>
          <a:lstStyle/>
          <a:p>
            <a:pPr lvl="0">
              <a:lnSpc>
                <a:spcPct val="100000"/>
              </a:lnSpc>
              <a:spcAft>
                <a:spcPts val="500"/>
              </a:spcAft>
            </a:pPr>
            <a:r>
              <a:rPr lang="en-IN" dirty="0"/>
              <a:t>C is a Middle level language which is somewhere between low level and high level language.</a:t>
            </a:r>
          </a:p>
          <a:p>
            <a:pPr lvl="0">
              <a:lnSpc>
                <a:spcPct val="100000"/>
              </a:lnSpc>
              <a:spcAft>
                <a:spcPts val="500"/>
              </a:spcAft>
            </a:pPr>
            <a:r>
              <a:rPr lang="en-IN" dirty="0"/>
              <a:t>Low level languages are Machine level languages or Assembly level languages. </a:t>
            </a:r>
          </a:p>
          <a:p>
            <a:pPr lvl="0">
              <a:lnSpc>
                <a:spcPct val="100000"/>
              </a:lnSpc>
              <a:spcAft>
                <a:spcPts val="500"/>
              </a:spcAft>
            </a:pPr>
            <a:r>
              <a:rPr lang="en-IN" dirty="0"/>
              <a:t>Machine languages are those languages that are understand by Machine/Computer which is in the form of 0s or 1s and it is extremely difficult for human to understand. </a:t>
            </a:r>
          </a:p>
          <a:p>
            <a:pPr lvl="0">
              <a:lnSpc>
                <a:spcPct val="100000"/>
              </a:lnSpc>
              <a:spcAft>
                <a:spcPts val="500"/>
              </a:spcAft>
            </a:pPr>
            <a:r>
              <a:rPr lang="en-IN" dirty="0"/>
              <a:t>Assembly language are those languages that are based on mnemonics which is nearer to machine language (easier compare to ML).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2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C? </a:t>
            </a:r>
            <a:r>
              <a:rPr lang="en-US"/>
              <a:t>(Continue)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4960"/>
            <a:ext cx="11929641" cy="583622"/>
          </a:xfrm>
        </p:spPr>
        <p:txBody>
          <a:bodyPr/>
          <a:lstStyle/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226322"/>
              </p:ext>
            </p:extLst>
          </p:nvPr>
        </p:nvGraphicFramePr>
        <p:xfrm>
          <a:off x="480291" y="1700614"/>
          <a:ext cx="11405555" cy="4269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933">
                <a:tc>
                  <a:txBody>
                    <a:bodyPr/>
                    <a:lstStyle/>
                    <a:p>
                      <a:pPr algn="ctr"/>
                      <a:r>
                        <a:rPr lang="en-US" sz="26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Machine Language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600" b="1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Assembly Language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C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72">
                <a:tc>
                  <a:txBody>
                    <a:bodyPr/>
                    <a:lstStyle/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0001 00000011 //load a from address 3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0010 00000100 //add b into a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0011 00000101 //store into c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 00000100 // value of a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 00000101 // value of b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 00001001 // value of c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0001 is opcode for load 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0010 is opcode for add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0011 is opcode for store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LDA A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B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 C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A, DEC 4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B, DEC 5</a:t>
                      </a:r>
                    </a:p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C, DEC 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 =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a+b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31181" y="884961"/>
            <a:ext cx="11857620" cy="741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 of each language’s code that generates the same output (or performs an addition of 2 numbers)</a:t>
            </a:r>
          </a:p>
        </p:txBody>
      </p:sp>
    </p:spTree>
    <p:extLst>
      <p:ext uri="{BB962C8B-B14F-4D97-AF65-F5344CB8AC3E}">
        <p14:creationId xmlns:p14="http://schemas.microsoft.com/office/powerpoint/2010/main" val="313352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C? (Continue)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17342" y="2535551"/>
            <a:ext cx="5858455" cy="3800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4960"/>
            <a:ext cx="11929641" cy="5543549"/>
          </a:xfrm>
        </p:spPr>
        <p:txBody>
          <a:bodyPr/>
          <a:lstStyle/>
          <a:p>
            <a:pPr>
              <a:spcAft>
                <a:spcPts val="500"/>
              </a:spcAft>
            </a:pPr>
            <a:r>
              <a:rPr lang="en-US" dirty="0"/>
              <a:t>In previous slide example of each language’s program is given.(it is a quite easy to write a program in C language compared to Assembly and Machine language)</a:t>
            </a:r>
          </a:p>
          <a:p>
            <a:pPr>
              <a:spcAft>
                <a:spcPts val="500"/>
              </a:spcAft>
            </a:pPr>
            <a:r>
              <a:rPr lang="en-US" dirty="0"/>
              <a:t>C’s Compiler will automatically convert a Middle level language program into Machine language (in binary language which is understandable by machine) hence it reduces the human effort. </a:t>
            </a:r>
          </a:p>
          <a:p>
            <a:pPr>
              <a:spcAft>
                <a:spcPts val="500"/>
              </a:spcAft>
            </a:pPr>
            <a:r>
              <a:rPr lang="en-US" dirty="0"/>
              <a:t>C provides fundamental concepts which makes easier to learn higher level languages. </a:t>
            </a:r>
          </a:p>
          <a:p>
            <a:pPr>
              <a:spcAft>
                <a:spcPts val="500"/>
              </a:spcAft>
            </a:pPr>
            <a:r>
              <a:rPr lang="en-US" dirty="0"/>
              <a:t>C comparatively uses a fewer library means no default modules like higher level language which develops a logic which is a basic necessity of any programmer.</a:t>
            </a:r>
          </a:p>
        </p:txBody>
      </p:sp>
    </p:spTree>
    <p:extLst>
      <p:ext uri="{BB962C8B-B14F-4D97-AF65-F5344CB8AC3E}">
        <p14:creationId xmlns:p14="http://schemas.microsoft.com/office/powerpoint/2010/main" val="287671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4960"/>
            <a:ext cx="11929641" cy="5590565"/>
          </a:xfrm>
        </p:spPr>
        <p:txBody>
          <a:bodyPr/>
          <a:lstStyle/>
          <a:p>
            <a:r>
              <a:rPr lang="en-US" dirty="0"/>
              <a:t>C programming language was developed in 1972 by Dennis Ritchie at bell laboratories of AT&amp;T (American Telephone &amp; Telegraph).</a:t>
            </a:r>
          </a:p>
          <a:p>
            <a:r>
              <a:rPr lang="en-US" dirty="0"/>
              <a:t>C language was developed to be used in UNIX operating system.</a:t>
            </a:r>
          </a:p>
          <a:p>
            <a:r>
              <a:rPr lang="en-US" dirty="0"/>
              <a:t>It uses many features of previous languages such as B and BCPL.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94190"/>
              </p:ext>
            </p:extLst>
          </p:nvPr>
        </p:nvGraphicFramePr>
        <p:xfrm>
          <a:off x="6096000" y="2710985"/>
          <a:ext cx="5978659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2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Language</a:t>
                      </a:r>
                      <a:endParaRPr 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Developed</a:t>
                      </a:r>
                      <a:r>
                        <a:rPr lang="en-US" sz="2000" baseline="0" dirty="0">
                          <a:solidFill>
                            <a:srgbClr val="FFC000"/>
                          </a:solidFill>
                        </a:rPr>
                        <a:t> By</a:t>
                      </a:r>
                      <a:endParaRPr 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1960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Group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BCPL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1967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Martin Richard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Ken Thompson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Dennis Ritchie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ANSI 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1989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ANSI Committee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ANSI/ISO 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 Committee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C99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1999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Standardization Committee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17342" y="2535551"/>
            <a:ext cx="5858455" cy="3800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31180" y="2594353"/>
            <a:ext cx="5676233" cy="391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B Language </a:t>
            </a:r>
            <a:r>
              <a:rPr lang="en-US" dirty="0"/>
              <a:t>did not understand </a:t>
            </a:r>
            <a:r>
              <a:rPr lang="en-US" b="1" dirty="0"/>
              <a:t>data-types</a:t>
            </a:r>
            <a:r>
              <a:rPr lang="en-US" dirty="0"/>
              <a:t> and did not provide the use of </a:t>
            </a:r>
            <a:r>
              <a:rPr lang="en-US" b="1" dirty="0"/>
              <a:t>structures</a:t>
            </a:r>
            <a:r>
              <a:rPr lang="en-US" dirty="0"/>
              <a:t>.</a:t>
            </a:r>
          </a:p>
          <a:p>
            <a:r>
              <a:rPr lang="en-US" dirty="0"/>
              <a:t>These drawbacks became the driving force of a programming language C. </a:t>
            </a:r>
          </a:p>
          <a:p>
            <a:r>
              <a:rPr lang="en-US" dirty="0"/>
              <a:t>C is widely used in development: </a:t>
            </a:r>
          </a:p>
          <a:p>
            <a:pPr lvl="1"/>
            <a:r>
              <a:rPr lang="en-US" dirty="0"/>
              <a:t>Operating Systems like Windows</a:t>
            </a:r>
          </a:p>
          <a:p>
            <a:pPr lvl="1"/>
            <a:r>
              <a:rPr lang="en-US" dirty="0"/>
              <a:t>Oracle database</a:t>
            </a:r>
          </a:p>
          <a:p>
            <a:pPr lvl="1"/>
            <a:r>
              <a:rPr lang="en-US" dirty="0"/>
              <a:t>Git</a:t>
            </a:r>
          </a:p>
          <a:p>
            <a:pPr lvl="1"/>
            <a:r>
              <a:rPr lang="en-US" dirty="0"/>
              <a:t>Python interpreter</a:t>
            </a:r>
          </a:p>
          <a:p>
            <a:pPr lvl="1"/>
            <a:r>
              <a:rPr lang="en-US" dirty="0"/>
              <a:t>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81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Modularity</a:t>
            </a:r>
          </a:p>
          <a:p>
            <a:r>
              <a:rPr lang="en-IN" dirty="0"/>
              <a:t>Extensibility</a:t>
            </a:r>
          </a:p>
          <a:p>
            <a:r>
              <a:rPr lang="en-IN" dirty="0"/>
              <a:t>Elegant syntax</a:t>
            </a:r>
          </a:p>
          <a:p>
            <a:r>
              <a:rPr lang="en-IN" dirty="0"/>
              <a:t>Case sensitive</a:t>
            </a:r>
          </a:p>
          <a:p>
            <a:r>
              <a:rPr lang="en-IN" dirty="0"/>
              <a:t>The standard library concept</a:t>
            </a:r>
          </a:p>
          <a:p>
            <a:r>
              <a:rPr lang="en-IN" dirty="0"/>
              <a:t>The portability of the compiler</a:t>
            </a:r>
          </a:p>
          <a:p>
            <a:r>
              <a:rPr lang="en-IN" dirty="0"/>
              <a:t>A powerful and varied range </a:t>
            </a:r>
            <a:r>
              <a:rPr lang="en-IN"/>
              <a:t>of operators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7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Header Files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88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language has numerous libraries that include predefined functions to make programming easier.</a:t>
            </a:r>
          </a:p>
          <a:p>
            <a:r>
              <a:rPr lang="en-US" dirty="0"/>
              <a:t> Header files contain the set of predefined standard library functions.</a:t>
            </a:r>
          </a:p>
          <a:p>
            <a:r>
              <a:rPr lang="en-US" dirty="0"/>
              <a:t>Can use a header file in a program by including it with the C preprocessing directive </a:t>
            </a:r>
            <a:r>
              <a:rPr lang="en-US" b="1" dirty="0">
                <a:solidFill>
                  <a:srgbClr val="C00000"/>
                </a:solidFill>
              </a:rPr>
              <a:t>#include</a:t>
            </a:r>
            <a:r>
              <a:rPr lang="en-US" dirty="0"/>
              <a:t>.</a:t>
            </a:r>
          </a:p>
          <a:p>
            <a:r>
              <a:rPr lang="en-US" dirty="0"/>
              <a:t>All the header file have </a:t>
            </a:r>
            <a:r>
              <a:rPr lang="en-US" b="1" dirty="0">
                <a:solidFill>
                  <a:srgbClr val="C00000"/>
                </a:solidFill>
              </a:rPr>
              <a:t>.h</a:t>
            </a:r>
            <a:r>
              <a:rPr lang="en-US" dirty="0"/>
              <a:t> extension. </a:t>
            </a:r>
          </a:p>
          <a:p>
            <a:r>
              <a:rPr lang="en-US" dirty="0"/>
              <a:t>There are of 2 types of header file: </a:t>
            </a:r>
          </a:p>
          <a:p>
            <a:pPr lvl="1"/>
            <a:r>
              <a:rPr lang="en-US" b="1" dirty="0"/>
              <a:t>Pre-existing header files:</a:t>
            </a:r>
            <a:r>
              <a:rPr lang="en-US" dirty="0"/>
              <a:t> Files which are already available in C compiler we just need to import them.</a:t>
            </a:r>
          </a:p>
          <a:p>
            <a:pPr lvl="1"/>
            <a:r>
              <a:rPr lang="en-US" b="1" dirty="0"/>
              <a:t>User-defined header files: </a:t>
            </a:r>
            <a:r>
              <a:rPr lang="en-US" dirty="0"/>
              <a:t>These files are defined by the user as per need.</a:t>
            </a:r>
          </a:p>
          <a:p>
            <a:r>
              <a:rPr lang="en-US" dirty="0"/>
              <a:t>We can include header files in our program by using one of the 2 below approach.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1841678" y="4606500"/>
            <a:ext cx="1621957" cy="287471"/>
          </a:xfrm>
          <a:prstGeom prst="round2Same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Header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1679" y="4893973"/>
            <a:ext cx="373487" cy="15600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2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5165" y="4893972"/>
            <a:ext cx="4000907" cy="15770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#include &lt;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filename.h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&gt;</a:t>
            </a:r>
          </a:p>
          <a:p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</a:t>
            </a:r>
          </a:p>
          <a:p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#include "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filename.h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55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#include&lt;stdio.h&gt;: </a:t>
            </a:r>
            <a:r>
              <a:rPr lang="en-US" dirty="0"/>
              <a:t>It is used to perform input and output operations using functions scanf() and printf().</a:t>
            </a:r>
          </a:p>
          <a:p>
            <a:r>
              <a:rPr lang="en-US" b="1" dirty="0"/>
              <a:t>#include&lt;string.h&gt;: </a:t>
            </a:r>
            <a:r>
              <a:rPr lang="en-US" dirty="0"/>
              <a:t>It is used to perform various functionalities related to string manipulation like strlen(), strcmp(), strcpy(), size(), etc.</a:t>
            </a:r>
          </a:p>
          <a:p>
            <a:r>
              <a:rPr lang="en-US" b="1" dirty="0"/>
              <a:t>#include&lt;math.h&gt;:</a:t>
            </a:r>
            <a:r>
              <a:rPr lang="en-US" dirty="0"/>
              <a:t> It is used to perform mathematical operations like sqrt(), log2(), pow(), etc.</a:t>
            </a:r>
          </a:p>
          <a:p>
            <a:r>
              <a:rPr lang="en-US" b="1" dirty="0"/>
              <a:t>#include&lt;</a:t>
            </a:r>
            <a:r>
              <a:rPr lang="en-US" b="1" dirty="0" err="1"/>
              <a:t>stdlib.h</a:t>
            </a:r>
            <a:r>
              <a:rPr lang="en-US" b="1" dirty="0"/>
              <a:t>&gt;: </a:t>
            </a:r>
            <a:r>
              <a:rPr lang="en-US" dirty="0"/>
              <a:t>It is used for allocating and freeing memory at runtime (dynamic memory allocation/free)</a:t>
            </a:r>
          </a:p>
        </p:txBody>
      </p:sp>
    </p:spTree>
    <p:extLst>
      <p:ext uri="{BB962C8B-B14F-4D97-AF65-F5344CB8AC3E}">
        <p14:creationId xmlns:p14="http://schemas.microsoft.com/office/powerpoint/2010/main" val="148596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Hello World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804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Hello World Program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360609" y="862884"/>
            <a:ext cx="2650446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Hello World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609" y="1236371"/>
            <a:ext cx="540912" cy="16915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21" y="1246029"/>
            <a:ext cx="4932609" cy="1681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void main()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printf(“Hello World”);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6375042" y="862884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5042" y="1246030"/>
            <a:ext cx="5473521" cy="711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279810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Escape Sequence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797766"/>
              </p:ext>
            </p:extLst>
          </p:nvPr>
        </p:nvGraphicFramePr>
        <p:xfrm>
          <a:off x="328732" y="908249"/>
          <a:ext cx="11543955" cy="50415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335098759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014914561"/>
                    </a:ext>
                  </a:extLst>
                </a:gridCol>
                <a:gridCol w="6937830">
                  <a:extLst>
                    <a:ext uri="{9D8B030D-6E8A-4147-A177-3AD203B41FA5}">
                      <a16:colId xmlns:a16="http://schemas.microsoft.com/office/drawing/2014/main" val="2468662443"/>
                    </a:ext>
                  </a:extLst>
                </a:gridCol>
              </a:tblGrid>
              <a:tr h="25708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Sequence</a:t>
                      </a:r>
                    </a:p>
                  </a:txBody>
                  <a:tcPr marL="31738" marR="31738" marT="39673" marB="3967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39673" marR="39673" marT="39673" marB="3967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9673" marR="39673" marT="39673" marB="3967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188759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\a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Alarm or Beep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generate a bell sound in the C program.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400233404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\n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New Line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moves the cursor to the start of the next line.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94762675"/>
                  </a:ext>
                </a:extLst>
              </a:tr>
              <a:tr h="4284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\t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Horizontal Tab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inserts some whitespace to the left of the cursor and moves the cursor accordingly.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339331892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\v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Vertical Tab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insert vertical space.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262684665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\\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Backlash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Use to insert backslash character.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921159633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\’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>
                          <a:effectLst/>
                        </a:rPr>
                        <a:t>Single Quote</a:t>
                      </a:r>
                      <a:endParaRPr lang="en-IN" sz="2400" b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display a single quotation mark.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3603234211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\”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>
                          <a:effectLst/>
                        </a:rPr>
                        <a:t>Double Quote</a:t>
                      </a:r>
                      <a:endParaRPr lang="en-IN" sz="2400" b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display double quotation marks.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547898582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\b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Back Space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move the cursor backward.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530647069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\0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>
                          <a:effectLst/>
                        </a:rPr>
                        <a:t>NULL</a:t>
                      </a:r>
                      <a:endParaRPr lang="en-IN" sz="2400" b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represents the NLL character.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03531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59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printf()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Print your name and address</a:t>
            </a:r>
          </a:p>
          <a:p>
            <a:r>
              <a:rPr lang="en-IN" dirty="0"/>
              <a:t>Print following pattern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Print backslash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40972" y="1902581"/>
          <a:ext cx="140788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577">
                  <a:extLst>
                    <a:ext uri="{9D8B030D-6E8A-4147-A177-3AD203B41FA5}">
                      <a16:colId xmlns:a16="http://schemas.microsoft.com/office/drawing/2014/main" val="1211535315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3558388700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2131437501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990138730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2891884592"/>
                    </a:ext>
                  </a:extLst>
                </a:gridCol>
              </a:tblGrid>
              <a:tr h="21166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*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609361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0941931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7981215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1805085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43207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35314" y="4143520"/>
            <a:ext cx="6192322" cy="132343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void main()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printf("Hello \b\b\</a:t>
            </a:r>
            <a:r>
              <a:rPr lang="en-US" sz="2000" dirty="0" err="1">
                <a:latin typeface="Consolas" panose="020B0609020204030204" pitchFamily="49" charset="0"/>
              </a:rPr>
              <a:t>bHi</a:t>
            </a:r>
            <a:r>
              <a:rPr lang="en-US" sz="2000" dirty="0">
                <a:latin typeface="Consolas" panose="020B0609020204030204" pitchFamily="49" charset="0"/>
              </a:rPr>
              <a:t> Friends");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I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Structure of C programs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454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C program basically consists of the different parts</a:t>
            </a:r>
          </a:p>
          <a:p>
            <a:pPr lvl="1"/>
            <a:r>
              <a:rPr lang="en-US" dirty="0"/>
              <a:t>Preprocessor Commands</a:t>
            </a:r>
          </a:p>
          <a:p>
            <a:pPr lvl="2"/>
            <a:r>
              <a:rPr lang="en-US" dirty="0"/>
              <a:t>The first line of the program </a:t>
            </a:r>
            <a:r>
              <a:rPr lang="en-US" dirty="0">
                <a:solidFill>
                  <a:srgbClr val="C00000"/>
                </a:solidFill>
              </a:rPr>
              <a:t>#include&lt;stdio.h&gt;</a:t>
            </a:r>
            <a:r>
              <a:rPr lang="en-US" dirty="0"/>
              <a:t> is a preprocessor command, which tells a C compiler to include stdio.h file before going to actual compilation.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1" y="2226459"/>
            <a:ext cx="6735651" cy="4227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Functions</a:t>
            </a:r>
          </a:p>
          <a:p>
            <a:pPr lvl="2"/>
            <a:r>
              <a:rPr lang="en-US" dirty="0"/>
              <a:t>The </a:t>
            </a:r>
            <a:r>
              <a:rPr lang="en-US" i="1" dirty="0"/>
              <a:t>void </a:t>
            </a:r>
            <a:r>
              <a:rPr lang="en-US" i="1" dirty="0">
                <a:solidFill>
                  <a:srgbClr val="C00000"/>
                </a:solidFill>
              </a:rPr>
              <a:t>main()</a:t>
            </a:r>
            <a:r>
              <a:rPr lang="en-US" dirty="0"/>
              <a:t> is the main function where the program execution begins.	 </a:t>
            </a:r>
          </a:p>
          <a:p>
            <a:pPr lvl="1"/>
            <a:r>
              <a:rPr lang="en-US" dirty="0"/>
              <a:t>Variables</a:t>
            </a:r>
          </a:p>
          <a:p>
            <a:pPr lvl="2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variable</a:t>
            </a:r>
            <a:r>
              <a:rPr lang="en-US" dirty="0"/>
              <a:t> definition tells the compiler where and how much storage to create for the variable.</a:t>
            </a:r>
          </a:p>
          <a:p>
            <a:pPr lvl="1"/>
            <a:r>
              <a:rPr lang="en-US" dirty="0"/>
              <a:t>Statements &amp; Expressions</a:t>
            </a:r>
          </a:p>
          <a:p>
            <a:pPr lvl="2"/>
            <a:r>
              <a:rPr lang="en-US" dirty="0"/>
              <a:t>A 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 is a command given to the computer that instructs the computer to take a specific action, such as display to the screen, or collect input.</a:t>
            </a:r>
          </a:p>
          <a:p>
            <a:pPr lvl="1"/>
            <a:r>
              <a:rPr lang="en-US" dirty="0"/>
              <a:t>Comments</a:t>
            </a:r>
          </a:p>
          <a:p>
            <a:pPr lvl="2"/>
            <a:r>
              <a:rPr lang="en-US" dirty="0"/>
              <a:t>The line </a:t>
            </a:r>
            <a:r>
              <a:rPr lang="en-US" dirty="0">
                <a:solidFill>
                  <a:srgbClr val="C00000"/>
                </a:solidFill>
              </a:rPr>
              <a:t>/*...*/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</a:t>
            </a:r>
            <a:r>
              <a:rPr lang="en-US" dirty="0">
                <a:solidFill>
                  <a:srgbClr val="C00000"/>
                </a:solidFill>
              </a:rPr>
              <a:t> // </a:t>
            </a:r>
            <a:r>
              <a:rPr lang="en-US" dirty="0"/>
              <a:t>will be ignored by the compiler and it has been put to add additional comments in the program.</a:t>
            </a:r>
          </a:p>
        </p:txBody>
      </p:sp>
      <p:sp>
        <p:nvSpPr>
          <p:cNvPr id="5" name="Round Same Side Corner Rectangle 4"/>
          <p:cNvSpPr/>
          <p:nvPr/>
        </p:nvSpPr>
        <p:spPr>
          <a:xfrm>
            <a:off x="6973667" y="3024949"/>
            <a:ext cx="1455313" cy="283335"/>
          </a:xfrm>
          <a:prstGeom prst="round2Same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973666" y="3308285"/>
            <a:ext cx="425003" cy="22553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2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5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6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7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8669" y="3308284"/>
            <a:ext cx="4662152" cy="2255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#include&lt;stdio.h&gt; 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void main()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{  </a:t>
            </a:r>
          </a:p>
          <a:p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variable_name;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printf("Enter two numbers to be added ");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  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   </a:t>
            </a:r>
            <a:r>
              <a:rPr lang="en-US" dirty="0">
                <a:solidFill>
                  <a:srgbClr val="C00000"/>
                </a:solidFill>
              </a:rPr>
              <a:t>// Comments  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 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14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Data Types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690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IN" dirty="0"/>
              <a:t>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types are defined as the </a:t>
            </a:r>
            <a:r>
              <a:rPr lang="en-IN" dirty="0">
                <a:solidFill>
                  <a:srgbClr val="C00000"/>
                </a:solidFill>
              </a:rPr>
              <a:t>data storage format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that a variable can store a data.</a:t>
            </a:r>
          </a:p>
          <a:p>
            <a:r>
              <a:rPr lang="en-IN" dirty="0"/>
              <a:t>It </a:t>
            </a:r>
            <a:r>
              <a:rPr lang="en-IN" dirty="0">
                <a:solidFill>
                  <a:srgbClr val="C00000"/>
                </a:solidFill>
              </a:rPr>
              <a:t>determines the type and size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of data associated with variables.</a:t>
            </a:r>
            <a:endParaRPr lang="en-IN" sz="1800" b="1" dirty="0">
              <a:solidFill>
                <a:srgbClr val="F92672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3688863" y="2414429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+mj-lt"/>
              </a:rPr>
              <a:t>Data types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262360" y="3718569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Primary Data type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char, double, void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endParaRPr 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115368" y="3718569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Secondary Data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5135461" y="4976883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Derived Data type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pointer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9036546" y="4976883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User definer Data type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structure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union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cxnSp>
        <p:nvCxnSpPr>
          <p:cNvPr id="9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6604151" y="2842777"/>
            <a:ext cx="1965257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flipH="1">
            <a:off x="1701747" y="2842776"/>
            <a:ext cx="1965257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10037865" y="4126627"/>
            <a:ext cx="720000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flipH="1">
            <a:off x="6388061" y="4126626"/>
            <a:ext cx="720000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6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Data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+mj-lt"/>
              </a:rPr>
              <a:t>Primary data types are </a:t>
            </a:r>
            <a:r>
              <a:rPr lang="en-IN" dirty="0">
                <a:solidFill>
                  <a:srgbClr val="C00000"/>
                </a:solidFill>
                <a:latin typeface="+mj-lt"/>
              </a:rPr>
              <a:t>built in data types </a:t>
            </a:r>
            <a:r>
              <a:rPr lang="en-IN" dirty="0">
                <a:latin typeface="+mj-lt"/>
              </a:rPr>
              <a:t>which are </a:t>
            </a:r>
            <a:r>
              <a:rPr lang="en-IN" dirty="0">
                <a:solidFill>
                  <a:srgbClr val="C00000"/>
                </a:solidFill>
                <a:latin typeface="+mj-lt"/>
              </a:rPr>
              <a:t>directly supported by machine</a:t>
            </a:r>
            <a:r>
              <a:rPr lang="en-IN" dirty="0">
                <a:latin typeface="+mj-lt"/>
              </a:rPr>
              <a:t>. </a:t>
            </a:r>
          </a:p>
          <a:p>
            <a:r>
              <a:rPr lang="en-IN" dirty="0">
                <a:latin typeface="+mj-lt"/>
              </a:rPr>
              <a:t>They are also known as fundamental data types.</a:t>
            </a:r>
          </a:p>
          <a:p>
            <a:pPr lvl="1"/>
            <a:r>
              <a:rPr lang="en-IN" sz="24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400" dirty="0">
                <a:latin typeface="+mj-lt"/>
              </a:rPr>
              <a:t>: </a:t>
            </a:r>
          </a:p>
          <a:p>
            <a:pPr lvl="2"/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 err="1">
                <a:latin typeface="+mj-lt"/>
              </a:rPr>
              <a:t>datatype</a:t>
            </a:r>
            <a:r>
              <a:rPr lang="en-IN" sz="2000" dirty="0">
                <a:latin typeface="+mj-lt"/>
              </a:rPr>
              <a:t> can store integer number which is whole number without fraction part such as 10, 105 etc. </a:t>
            </a:r>
          </a:p>
          <a:p>
            <a:pPr lvl="2"/>
            <a:r>
              <a:rPr lang="en-IN" sz="2000" dirty="0">
                <a:latin typeface="+mj-lt"/>
              </a:rPr>
              <a:t>C language has 3 classes of integer storage namely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short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,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and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long int</a:t>
            </a:r>
            <a:r>
              <a:rPr lang="en-IN" sz="2000" dirty="0">
                <a:latin typeface="+mj-lt"/>
              </a:rPr>
              <a:t>. All of these data types have signed and unsigned forms.</a:t>
            </a:r>
          </a:p>
          <a:p>
            <a:pPr lvl="2"/>
            <a:r>
              <a:rPr lang="en-IN" sz="2000" dirty="0">
                <a:latin typeface="+mj-lt"/>
              </a:rPr>
              <a:t>Example: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latin typeface="+mj-lt"/>
              </a:rPr>
              <a:t> a=10;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200" dirty="0">
                <a:latin typeface="+mj-lt"/>
              </a:rPr>
              <a:t>:</a:t>
            </a:r>
            <a:r>
              <a:rPr lang="en-IN" sz="2200" dirty="0">
                <a:solidFill>
                  <a:srgbClr val="92D050"/>
                </a:solidFill>
                <a:latin typeface="+mj-lt"/>
              </a:rPr>
              <a:t> </a:t>
            </a:r>
          </a:p>
          <a:p>
            <a:pPr lvl="2"/>
            <a:r>
              <a:rPr lang="en-IN" sz="20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000" dirty="0">
                <a:latin typeface="+mj-lt"/>
              </a:rPr>
              <a:t> data type can store floating point number which represents a real number with decimal point and fractional part such as 10.50, 155.25 etc.  </a:t>
            </a:r>
          </a:p>
          <a:p>
            <a:pPr lvl="2"/>
            <a:r>
              <a:rPr lang="en-IN" sz="2000" dirty="0">
                <a:latin typeface="+mj-lt"/>
              </a:rPr>
              <a:t>When the accuracy of the floating point number is insufficient, we can use the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double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to define the number. The double is same as float but with longer precision. </a:t>
            </a:r>
          </a:p>
          <a:p>
            <a:pPr lvl="2"/>
            <a:r>
              <a:rPr lang="en-IN" sz="2000" dirty="0">
                <a:latin typeface="+mj-lt"/>
              </a:rPr>
              <a:t>To extend the precision further we can use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long double </a:t>
            </a:r>
            <a:r>
              <a:rPr lang="en-IN" sz="2000" dirty="0">
                <a:latin typeface="+mj-lt"/>
              </a:rPr>
              <a:t>which consumes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at least 10 Bytes </a:t>
            </a:r>
            <a:r>
              <a:rPr lang="en-IN" sz="2000" dirty="0">
                <a:latin typeface="+mj-lt"/>
              </a:rPr>
              <a:t>of memory space. (generally 12 to 16 Bytes depends on compiler)</a:t>
            </a:r>
          </a:p>
          <a:p>
            <a:pPr lvl="2"/>
            <a:r>
              <a:rPr lang="en-IN" sz="2000" dirty="0">
                <a:latin typeface="+mj-lt"/>
              </a:rPr>
              <a:t>Example: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a=10.50;</a:t>
            </a:r>
          </a:p>
          <a:p>
            <a:endParaRPr lang="en-IN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63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Data Type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sz="24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400" dirty="0">
                <a:latin typeface="+mj-lt"/>
              </a:rPr>
              <a:t>:</a:t>
            </a:r>
          </a:p>
          <a:p>
            <a:pPr lvl="2"/>
            <a:r>
              <a:rPr lang="en-IN" sz="20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000" dirty="0">
                <a:latin typeface="+mj-lt"/>
              </a:rPr>
              <a:t> data type can store single character of alphabet or digit or special symbol such as ‘a’, ‘5’ etc. </a:t>
            </a:r>
          </a:p>
          <a:p>
            <a:pPr lvl="2"/>
            <a:r>
              <a:rPr lang="en-IN" sz="2000" dirty="0">
                <a:latin typeface="+mj-lt"/>
              </a:rPr>
              <a:t>Each character is assigned some integer value which is known as ASCII values.</a:t>
            </a:r>
          </a:p>
          <a:p>
            <a:pPr lvl="2"/>
            <a:r>
              <a:rPr lang="en-IN" sz="2000" dirty="0">
                <a:latin typeface="+mj-lt"/>
              </a:rPr>
              <a:t>Example: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a=‘a’;</a:t>
            </a:r>
          </a:p>
          <a:p>
            <a:pPr lvl="1"/>
            <a:r>
              <a:rPr lang="en-IN" sz="2400" b="1" dirty="0">
                <a:solidFill>
                  <a:srgbClr val="C00000"/>
                </a:solidFill>
                <a:latin typeface="+mj-lt"/>
              </a:rPr>
              <a:t>void</a:t>
            </a:r>
            <a:r>
              <a:rPr lang="en-IN" sz="2400" dirty="0">
                <a:latin typeface="+mj-lt"/>
              </a:rPr>
              <a:t>: </a:t>
            </a:r>
          </a:p>
          <a:p>
            <a:pPr lvl="2"/>
            <a:r>
              <a:rPr lang="en-IN" sz="2000" dirty="0">
                <a:latin typeface="+mj-lt"/>
              </a:rPr>
              <a:t>The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void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type has no value therefore we cannot declare it as variable as we did in case of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or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or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000" dirty="0">
                <a:latin typeface="+mj-lt"/>
              </a:rPr>
              <a:t>.</a:t>
            </a:r>
          </a:p>
          <a:p>
            <a:pPr lvl="2"/>
            <a:r>
              <a:rPr lang="en-IN" sz="2000" dirty="0">
                <a:latin typeface="+mj-lt"/>
              </a:rPr>
              <a:t>The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void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data type is used to indicate that function is not returning anything</a:t>
            </a:r>
            <a:r>
              <a:rPr lang="en-IN" sz="2200" dirty="0">
                <a:latin typeface="+mj-lt"/>
              </a:rPr>
              <a:t>.</a:t>
            </a:r>
          </a:p>
          <a:p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260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Data Type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246177"/>
              </p:ext>
            </p:extLst>
          </p:nvPr>
        </p:nvGraphicFramePr>
        <p:xfrm>
          <a:off x="891504" y="1051560"/>
          <a:ext cx="104089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Storage 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Value 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-128 to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127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‘a’, ’$’ ,’1’ , etc…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Unsigned char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to 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‘a’, ’$’ ,’1’ , etc…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83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-32,768 to 32,767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71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short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 to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65,535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-2,147,483,648 to 2,147,483,647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to 4,294,967,295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2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3.4E-38 to 3.4E+38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10.20, 20.30,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40.30, etc…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4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1.7E-308 to 1.7E+308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10, 10.50, 100058,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Double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3.4E-4932 to 1.1E+4932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10.20, 20.30,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40.30, etc…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501932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91504" y="5990163"/>
            <a:ext cx="9149311" cy="621520"/>
          </a:xfrm>
        </p:spPr>
        <p:txBody>
          <a:bodyPr/>
          <a:lstStyle/>
          <a:p>
            <a:r>
              <a:rPr lang="en-US" dirty="0">
                <a:latin typeface="+mj-lt"/>
              </a:rPr>
              <a:t>Note: Theoretically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is 2 bytes where as practically it is 4 bytes.</a:t>
            </a:r>
          </a:p>
        </p:txBody>
      </p:sp>
    </p:spTree>
    <p:extLst>
      <p:ext uri="{BB962C8B-B14F-4D97-AF65-F5344CB8AC3E}">
        <p14:creationId xmlns:p14="http://schemas.microsoft.com/office/powerpoint/2010/main" val="107706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Input &amp; Output operation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48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Output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start dealing with variables in C need to do some input/output.</a:t>
            </a:r>
          </a:p>
          <a:p>
            <a:r>
              <a:rPr lang="en-US" dirty="0"/>
              <a:t>The computer’s primary input device is the keyboard, and its primary output device is the monitor.</a:t>
            </a:r>
          </a:p>
          <a:p>
            <a:r>
              <a:rPr lang="en-US" b="1" dirty="0"/>
              <a:t>Input</a:t>
            </a:r>
            <a:r>
              <a:rPr lang="en-US" dirty="0"/>
              <a:t> means to provide the data to be used in the program using variables.</a:t>
            </a:r>
          </a:p>
          <a:p>
            <a:r>
              <a:rPr lang="en-US" b="1" dirty="0"/>
              <a:t>Output</a:t>
            </a:r>
            <a:r>
              <a:rPr lang="en-US" dirty="0"/>
              <a:t> means to display data on the screen or write the data to a printer or a file.</a:t>
            </a:r>
          </a:p>
          <a:p>
            <a:r>
              <a:rPr lang="en-US" dirty="0"/>
              <a:t>The functions used for standard input and output are present in the </a:t>
            </a:r>
            <a:r>
              <a:rPr lang="en-US" b="1" dirty="0"/>
              <a:t>stdio.h</a:t>
            </a:r>
            <a:r>
              <a:rPr lang="en-US" dirty="0"/>
              <a:t> header file.</a:t>
            </a:r>
          </a:p>
          <a:p>
            <a:r>
              <a:rPr lang="en-US" dirty="0"/>
              <a:t>Functions used for input/output operations are:</a:t>
            </a:r>
          </a:p>
          <a:p>
            <a:pPr lvl="1"/>
            <a:r>
              <a:rPr lang="en-US" dirty="0"/>
              <a:t>printf()</a:t>
            </a:r>
          </a:p>
          <a:p>
            <a:pPr lvl="1"/>
            <a:r>
              <a:rPr lang="en-US" dirty="0" err="1"/>
              <a:t>scanf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2476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printf() is a function defined in </a:t>
            </a:r>
            <a:r>
              <a:rPr lang="en-US" dirty="0">
                <a:solidFill>
                  <a:srgbClr val="C00000"/>
                </a:solidFill>
              </a:rPr>
              <a:t>stdio.h</a:t>
            </a:r>
            <a:r>
              <a:rPr lang="en-US" dirty="0"/>
              <a:t> file</a:t>
            </a:r>
          </a:p>
          <a:p>
            <a:r>
              <a:rPr lang="en-US" dirty="0"/>
              <a:t>It displays output on standard output, mostly monitor</a:t>
            </a:r>
          </a:p>
          <a:p>
            <a:r>
              <a:rPr lang="en-US" dirty="0"/>
              <a:t>Message and value of variable can be printed using this function</a:t>
            </a:r>
          </a:p>
          <a:p>
            <a:r>
              <a:rPr lang="en-US" dirty="0"/>
              <a:t>Examples:				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printf(“ ”);  </a:t>
            </a:r>
          </a:p>
          <a:p>
            <a:pPr lvl="1"/>
            <a:r>
              <a:rPr lang="en-US" dirty="0"/>
              <a:t>printf(“Hello World”); 		</a:t>
            </a:r>
            <a:r>
              <a:rPr lang="en-US" dirty="0">
                <a:solidFill>
                  <a:srgbClr val="C00000"/>
                </a:solidFill>
              </a:rPr>
              <a:t>// Hello World</a:t>
            </a:r>
          </a:p>
          <a:p>
            <a:pPr lvl="1"/>
            <a:r>
              <a:rPr lang="en-US" dirty="0"/>
              <a:t>printf(“%d”, c);			</a:t>
            </a:r>
            <a:r>
              <a:rPr lang="en-US" dirty="0">
                <a:solidFill>
                  <a:srgbClr val="C00000"/>
                </a:solidFill>
              </a:rPr>
              <a:t>// 15 suppose C=15</a:t>
            </a:r>
          </a:p>
          <a:p>
            <a:pPr lvl="1"/>
            <a:r>
              <a:rPr lang="en-US" dirty="0"/>
              <a:t>printf(“Sum = %d”, c);	</a:t>
            </a:r>
            <a:r>
              <a:rPr lang="en-US" dirty="0">
                <a:solidFill>
                  <a:srgbClr val="92D050"/>
                </a:solidFill>
              </a:rPr>
              <a:t>            	</a:t>
            </a:r>
            <a:r>
              <a:rPr lang="en-US" dirty="0">
                <a:solidFill>
                  <a:srgbClr val="C00000"/>
                </a:solidFill>
              </a:rPr>
              <a:t>// Sum = 15</a:t>
            </a:r>
          </a:p>
          <a:p>
            <a:pPr lvl="1"/>
            <a:r>
              <a:rPr lang="en-US" dirty="0"/>
              <a:t>printf(“%d+%d=%d”, a, b, </a:t>
            </a:r>
            <a:r>
              <a:rPr lang="en-US" dirty="0" err="1"/>
              <a:t>a+b</a:t>
            </a:r>
            <a:r>
              <a:rPr lang="en-US" dirty="0"/>
              <a:t>);        	</a:t>
            </a:r>
            <a:r>
              <a:rPr lang="en-US" dirty="0">
                <a:solidFill>
                  <a:srgbClr val="C00000"/>
                </a:solidFill>
              </a:rPr>
              <a:t>// 10+5=15</a:t>
            </a: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2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scanf()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scanf</a:t>
            </a:r>
            <a:r>
              <a:rPr lang="en-US" dirty="0"/>
              <a:t>() is a function defined in </a:t>
            </a:r>
            <a:r>
              <a:rPr lang="en-US" dirty="0">
                <a:solidFill>
                  <a:srgbClr val="C00000"/>
                </a:solidFill>
              </a:rPr>
              <a:t>stdio.h</a:t>
            </a:r>
            <a:r>
              <a:rPr lang="en-US" dirty="0"/>
              <a:t> file</a:t>
            </a:r>
          </a:p>
          <a:p>
            <a:r>
              <a:rPr lang="en-US" dirty="0"/>
              <a:t>scanf() function is used to read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character, string, numeric data </a:t>
            </a:r>
            <a:r>
              <a:rPr lang="en-US" dirty="0"/>
              <a:t>from keyboard</a:t>
            </a:r>
          </a:p>
          <a:p>
            <a:r>
              <a:rPr lang="en-US" dirty="0"/>
              <a:t>Syntax of scanf</a:t>
            </a:r>
          </a:p>
          <a:p>
            <a:pPr lvl="1"/>
            <a:r>
              <a:rPr lang="en-US" dirty="0">
                <a:latin typeface="+mj-lt"/>
              </a:rPr>
              <a:t>scanf("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%X</a:t>
            </a:r>
            <a:r>
              <a:rPr lang="en-US" dirty="0">
                <a:latin typeface="+mj-lt"/>
              </a:rPr>
              <a:t>", &amp;variable);</a:t>
            </a:r>
          </a:p>
          <a:p>
            <a:pPr lvl="1"/>
            <a:r>
              <a:rPr lang="en-US" dirty="0"/>
              <a:t>where %X is the </a:t>
            </a:r>
            <a:r>
              <a:rPr lang="en-US" dirty="0">
                <a:solidFill>
                  <a:srgbClr val="C00000"/>
                </a:solidFill>
              </a:rPr>
              <a:t>format specifier</a:t>
            </a:r>
            <a:r>
              <a:rPr lang="en-US" dirty="0"/>
              <a:t> which tells the compiler what type of data is in a variable.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 refers to address of variable which is directing the input value to a address returned by </a:t>
            </a:r>
            <a:r>
              <a:rPr lang="en-US" dirty="0">
                <a:solidFill>
                  <a:srgbClr val="C00000"/>
                </a:solidFill>
              </a:rPr>
              <a:t>&amp;variable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2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scanf</a:t>
            </a:r>
            <a:r>
              <a:rPr lang="en-IN" dirty="0"/>
              <a:t>()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22545"/>
              </p:ext>
            </p:extLst>
          </p:nvPr>
        </p:nvGraphicFramePr>
        <p:xfrm>
          <a:off x="891504" y="828040"/>
          <a:ext cx="10408992" cy="520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Format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Specifier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Supported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data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(“%c”, &amp;c)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character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a, f, j, W, Z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Unsigned char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(“%c”, &amp;c)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character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a, f, j, W, Z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83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(“%d”,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</a:t>
                      </a:r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71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short </a:t>
                      </a:r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2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(“%f”, &amp;b)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floating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1.5, 15.20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4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%lf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scanf</a:t>
                      </a: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(“%lf”, &amp;b)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Accept floating value such as 1.5, 15.20 </a:t>
                      </a: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etc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/>
                        <a:t> </a:t>
                      </a:r>
                      <a:r>
                        <a:rPr lang="en-IN" dirty="0"/>
                        <a:t>%Lf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 Double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scanf</a:t>
                      </a: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(“%Lf”, &amp;b)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Accept floating value such as 1.5, 15.20 </a:t>
                      </a: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etc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%s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(“%s”,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string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diet,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india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5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%u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(“%u”,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613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31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the output when each of the statements is performed? Assume x=2 and y=3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761" y="1896940"/>
            <a:ext cx="4891515" cy="249299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("%</a:t>
            </a:r>
            <a:r>
              <a:rPr lang="es-ES" sz="2400" dirty="0" err="1">
                <a:latin typeface="Consolas" panose="020B0609020204030204" pitchFamily="49" charset="0"/>
              </a:rPr>
              <a:t>d",x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("%d",</a:t>
            </a:r>
            <a:r>
              <a:rPr lang="es-ES" sz="2400" dirty="0" err="1">
                <a:latin typeface="Consolas" panose="020B0609020204030204" pitchFamily="49" charset="0"/>
              </a:rPr>
              <a:t>x+x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("x=");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("x=%</a:t>
            </a:r>
            <a:r>
              <a:rPr lang="es-ES" sz="2400" dirty="0" err="1">
                <a:latin typeface="Consolas" panose="020B0609020204030204" pitchFamily="49" charset="0"/>
              </a:rPr>
              <a:t>d",x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("%d=%d",</a:t>
            </a:r>
            <a:r>
              <a:rPr lang="es-ES" sz="2400" dirty="0" err="1">
                <a:latin typeface="Consolas" panose="020B0609020204030204" pitchFamily="49" charset="0"/>
              </a:rPr>
              <a:t>x+y,y+x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6358241" y="1523453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8241" y="1906598"/>
            <a:ext cx="5473521" cy="2014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x=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x=2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5=5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468761" y="1523453"/>
            <a:ext cx="2179846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I/O Operation</a:t>
            </a:r>
          </a:p>
        </p:txBody>
      </p:sp>
    </p:spTree>
    <p:extLst>
      <p:ext uri="{BB962C8B-B14F-4D97-AF65-F5344CB8AC3E}">
        <p14:creationId xmlns:p14="http://schemas.microsoft.com/office/powerpoint/2010/main" val="310243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program that calculates squares and cubes of the numbers 0 to 5 and print like below</a:t>
            </a:r>
            <a:endParaRPr lang="en-US" dirty="0"/>
          </a:p>
        </p:txBody>
      </p:sp>
      <p:sp>
        <p:nvSpPr>
          <p:cNvPr id="6" name="Round Same Side Corner Rectangle 5"/>
          <p:cNvSpPr/>
          <p:nvPr/>
        </p:nvSpPr>
        <p:spPr>
          <a:xfrm>
            <a:off x="443216" y="1559172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216" y="1942317"/>
            <a:ext cx="4736003" cy="2815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number	square	cube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0		0		0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1		1		1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2		4		8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3		9		27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4		16		64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5		25		125</a:t>
            </a:r>
          </a:p>
        </p:txBody>
      </p:sp>
    </p:spTree>
    <p:extLst>
      <p:ext uri="{BB962C8B-B14F-4D97-AF65-F5344CB8AC3E}">
        <p14:creationId xmlns:p14="http://schemas.microsoft.com/office/powerpoint/2010/main" val="32183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Output Operations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360609" y="862884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I/O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609" y="1236371"/>
            <a:ext cx="540912" cy="2544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21" y="1246030"/>
            <a:ext cx="6746188" cy="2534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void main()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int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user_input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	printf("Please enter a number: 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	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scanf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("%d", &amp;user_input);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	printf("You entered: %d", user_input);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7899042" y="862884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9043" y="1246030"/>
            <a:ext cx="3267722" cy="711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Please enter a number: 10</a:t>
            </a:r>
          </a:p>
          <a:p>
            <a:r>
              <a:rPr lang="en-US" sz="2000" dirty="0">
                <a:solidFill>
                  <a:schemeClr val="bg1"/>
                </a:solidFill>
              </a:rPr>
              <a:t>You entered: 10</a:t>
            </a:r>
          </a:p>
        </p:txBody>
      </p:sp>
    </p:spTree>
    <p:extLst>
      <p:ext uri="{BB962C8B-B14F-4D97-AF65-F5344CB8AC3E}">
        <p14:creationId xmlns:p14="http://schemas.microsoft.com/office/powerpoint/2010/main" val="382689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smallest individual unit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of a program is known as token.</a:t>
            </a:r>
          </a:p>
          <a:p>
            <a:r>
              <a:rPr lang="en-IN" dirty="0"/>
              <a:t>C has the following tokens:</a:t>
            </a:r>
          </a:p>
          <a:p>
            <a:pPr lvl="1"/>
            <a:r>
              <a:rPr lang="en-IN" dirty="0"/>
              <a:t>Keywords:</a:t>
            </a:r>
          </a:p>
          <a:p>
            <a:pPr lvl="2"/>
            <a:r>
              <a:rPr lang="en-IN" sz="2000" dirty="0"/>
              <a:t>C reserves a set of 32 words for its own use. These words are called keywords (or reserved words), and each of these keywords has a special meaning within the C language.</a:t>
            </a:r>
          </a:p>
          <a:p>
            <a:pPr lvl="1"/>
            <a:r>
              <a:rPr lang="en-IN" dirty="0"/>
              <a:t>Identifiers</a:t>
            </a:r>
          </a:p>
          <a:p>
            <a:pPr lvl="2"/>
            <a:r>
              <a:rPr lang="en-IN" sz="2000" dirty="0"/>
              <a:t>Identifiers are names that are given to various user defined program elements, such as variable, function and arrays.</a:t>
            </a:r>
          </a:p>
          <a:p>
            <a:pPr lvl="1"/>
            <a:r>
              <a:rPr lang="en-IN" dirty="0"/>
              <a:t>Constants</a:t>
            </a:r>
          </a:p>
          <a:p>
            <a:pPr lvl="2"/>
            <a:r>
              <a:rPr lang="en-IN" sz="2000" dirty="0"/>
              <a:t>Constants refer to fixed values that do not change during execution of program.</a:t>
            </a:r>
          </a:p>
          <a:p>
            <a:pPr lvl="1"/>
            <a:r>
              <a:rPr lang="en-IN" dirty="0"/>
              <a:t>Strings</a:t>
            </a:r>
          </a:p>
          <a:p>
            <a:pPr lvl="2"/>
            <a:r>
              <a:rPr lang="en-IN" sz="2000" dirty="0"/>
              <a:t>A string is a sequence of characters terminated with a null character </a:t>
            </a:r>
            <a:r>
              <a:rPr lang="en-IN" sz="2000" dirty="0">
                <a:solidFill>
                  <a:srgbClr val="C00000"/>
                </a:solidFill>
              </a:rPr>
              <a:t>\0</a:t>
            </a:r>
            <a:r>
              <a:rPr lang="en-IN" sz="2000" dirty="0"/>
              <a:t>.</a:t>
            </a:r>
          </a:p>
          <a:p>
            <a:pPr lvl="1"/>
            <a:r>
              <a:rPr lang="en-IN" dirty="0"/>
              <a:t>Special Symbols</a:t>
            </a:r>
          </a:p>
          <a:p>
            <a:pPr lvl="2"/>
            <a:r>
              <a:rPr lang="en-IN" sz="2000" dirty="0"/>
              <a:t>Symbols such as #, &amp;, =, *, ; are used in C for some specific function are called as special symbols.</a:t>
            </a:r>
          </a:p>
          <a:p>
            <a:pPr lvl="1"/>
            <a:r>
              <a:rPr lang="en-IN" dirty="0"/>
              <a:t>Operators</a:t>
            </a:r>
          </a:p>
          <a:p>
            <a:pPr lvl="2"/>
            <a:r>
              <a:rPr lang="en-IN" sz="2000" dirty="0"/>
              <a:t>An operator is a symbol that tells the compiler to perform certain mathematical operation.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1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Keywords are predefined, reserved words in C language which is associated with specific features.</a:t>
            </a:r>
          </a:p>
          <a:p>
            <a:r>
              <a:rPr lang="en-US" dirty="0"/>
              <a:t>They have special meaning to the compilers.</a:t>
            </a:r>
          </a:p>
          <a:p>
            <a:r>
              <a:rPr lang="en-US" dirty="0"/>
              <a:t>There are total 32 keywords in 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65219"/>
              </p:ext>
            </p:extLst>
          </p:nvPr>
        </p:nvGraphicFramePr>
        <p:xfrm>
          <a:off x="894128" y="2865625"/>
          <a:ext cx="10403744" cy="1804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break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goto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sizeof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typedef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volatile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73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identifier is used for any variable, function, data definition, labels in program.</a:t>
            </a:r>
          </a:p>
          <a:p>
            <a:r>
              <a:rPr lang="en-US" dirty="0"/>
              <a:t>In C language, an identifier is a combination of alphanumeric characters.</a:t>
            </a:r>
          </a:p>
          <a:p>
            <a:r>
              <a:rPr lang="en-US" dirty="0"/>
              <a:t>First begin with a letter of the alphabet or an underline, and the remaining are an alphabet, digit, or the underline.</a:t>
            </a:r>
          </a:p>
          <a:p>
            <a:r>
              <a:rPr lang="en-US" dirty="0"/>
              <a:t>Identifiers must be unique.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31065" y="3483168"/>
            <a:ext cx="3821030" cy="2294181"/>
            <a:chOff x="631065" y="3500752"/>
            <a:chExt cx="3821030" cy="2294181"/>
          </a:xfrm>
        </p:grpSpPr>
        <p:sp>
          <p:nvSpPr>
            <p:cNvPr id="4" name="Rectangle 3"/>
            <p:cNvSpPr/>
            <p:nvPr/>
          </p:nvSpPr>
          <p:spPr>
            <a:xfrm>
              <a:off x="1077459" y="3500752"/>
              <a:ext cx="3374636" cy="22941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#include&lt;stdio.h&gt;</a:t>
              </a:r>
            </a:p>
            <a:p>
              <a:endParaRPr lang="en-US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int student;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float marks;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31065" y="3500752"/>
              <a:ext cx="464890" cy="22941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7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4617959" y="4087040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6501685" y="3490173"/>
            <a:ext cx="4013915" cy="2304760"/>
            <a:chOff x="7416085" y="3490173"/>
            <a:chExt cx="3257777" cy="2304760"/>
          </a:xfrm>
        </p:grpSpPr>
        <p:sp>
          <p:nvSpPr>
            <p:cNvPr id="12" name="Rectangle 11"/>
            <p:cNvSpPr/>
            <p:nvPr/>
          </p:nvSpPr>
          <p:spPr>
            <a:xfrm>
              <a:off x="7762365" y="3490175"/>
              <a:ext cx="2911497" cy="23047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#include&lt;stdio.h&gt;</a:t>
              </a:r>
            </a:p>
            <a:p>
              <a:endParaRPr lang="en-US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int student;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float student;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16085" y="3490173"/>
              <a:ext cx="346280" cy="23047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5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7</a:t>
              </a: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10933900" y="4074543"/>
            <a:ext cx="474562" cy="474562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X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380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Constant is a fixed value which cannot be changed </a:t>
            </a:r>
            <a:r>
              <a:rPr lang="en-US" dirty="0"/>
              <a:t>throughout the program</a:t>
            </a:r>
            <a:r>
              <a:rPr lang="en-IN" dirty="0"/>
              <a:t>.</a:t>
            </a:r>
          </a:p>
          <a:p>
            <a:r>
              <a:rPr lang="en-US" dirty="0"/>
              <a:t>There are two simple ways in C to define constants.</a:t>
            </a:r>
          </a:p>
          <a:p>
            <a:pPr lvl="1"/>
            <a:r>
              <a:rPr lang="en-US" dirty="0"/>
              <a:t>Using </a:t>
            </a:r>
            <a:r>
              <a:rPr lang="en-US" b="1" dirty="0"/>
              <a:t>#define (Macro) </a:t>
            </a:r>
            <a:r>
              <a:rPr lang="en-US" dirty="0"/>
              <a:t>:</a:t>
            </a:r>
          </a:p>
          <a:p>
            <a:pPr lvl="2"/>
            <a:endParaRPr lang="en-IN" dirty="0"/>
          </a:p>
        </p:txBody>
      </p:sp>
      <p:sp>
        <p:nvSpPr>
          <p:cNvPr id="4" name="Round Same Side Corner Rectangle 3"/>
          <p:cNvSpPr/>
          <p:nvPr/>
        </p:nvSpPr>
        <p:spPr>
          <a:xfrm>
            <a:off x="953038" y="2163650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037" y="2421229"/>
            <a:ext cx="4678373" cy="412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C00000"/>
                </a:solidFill>
              </a:rPr>
              <a:t>#define </a:t>
            </a:r>
            <a:r>
              <a:rPr lang="en-US" b="1" dirty="0">
                <a:solidFill>
                  <a:schemeClr val="tx1"/>
                </a:solidFill>
              </a:rPr>
              <a:t>variable_name</a:t>
            </a:r>
            <a:r>
              <a:rPr lang="en-US" dirty="0">
                <a:solidFill>
                  <a:schemeClr val="tx1"/>
                </a:solidFill>
              </a:rPr>
              <a:t> Value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953037" y="3129852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7886" y="3387429"/>
            <a:ext cx="4343524" cy="22663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#include &lt;stdio.h&gt; </a:t>
            </a:r>
          </a:p>
          <a:p>
            <a:r>
              <a:rPr lang="en-US" dirty="0">
                <a:solidFill>
                  <a:schemeClr val="tx1"/>
                </a:solidFill>
              </a:rPr>
              <a:t>#define value 10 </a:t>
            </a:r>
          </a:p>
          <a:p>
            <a:r>
              <a:rPr lang="en-US" dirty="0">
                <a:solidFill>
                  <a:schemeClr val="tx1"/>
                </a:solidFill>
              </a:rPr>
              <a:t>void main() </a:t>
            </a:r>
          </a:p>
          <a:p>
            <a:r>
              <a:rPr lang="en-US" dirty="0">
                <a:solidFill>
                  <a:schemeClr val="tx1"/>
                </a:solidFill>
              </a:rPr>
              <a:t>{ </a:t>
            </a:r>
          </a:p>
          <a:p>
            <a:r>
              <a:rPr lang="en-US" dirty="0">
                <a:solidFill>
                  <a:schemeClr val="tx1"/>
                </a:solidFill>
              </a:rPr>
              <a:t>	int data; </a:t>
            </a:r>
          </a:p>
          <a:p>
            <a:r>
              <a:rPr lang="en-US" dirty="0">
                <a:solidFill>
                  <a:schemeClr val="tx1"/>
                </a:solidFill>
              </a:rPr>
              <a:t>	data = value*value; 	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("value of data : %d",data); 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953037" y="3387429"/>
            <a:ext cx="325314" cy="22663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095999" y="1811628"/>
            <a:ext cx="5829838" cy="43241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Using const keyword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lvl="2"/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96000" y="1855304"/>
            <a:ext cx="0" cy="428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27443" y="2440689"/>
            <a:ext cx="4678373" cy="412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chemeClr val="tx1"/>
                </a:solidFill>
              </a:rPr>
              <a:t> data_type  variable_name = value;</a:t>
            </a:r>
          </a:p>
        </p:txBody>
      </p:sp>
      <p:sp>
        <p:nvSpPr>
          <p:cNvPr id="18" name="Round Same Side Corner Rectangle 17"/>
          <p:cNvSpPr/>
          <p:nvPr/>
        </p:nvSpPr>
        <p:spPr>
          <a:xfrm>
            <a:off x="6527443" y="3149312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Program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2292" y="3406889"/>
            <a:ext cx="4343524" cy="2246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#include &lt;stdio.h&gt; </a:t>
            </a:r>
          </a:p>
          <a:p>
            <a:r>
              <a:rPr lang="en-US" dirty="0">
                <a:solidFill>
                  <a:schemeClr val="tx1"/>
                </a:solidFill>
              </a:rPr>
              <a:t>void main() </a:t>
            </a:r>
          </a:p>
          <a:p>
            <a:r>
              <a:rPr lang="en-US" dirty="0">
                <a:solidFill>
                  <a:schemeClr val="tx1"/>
                </a:solidFill>
              </a:rPr>
              <a:t>{ </a:t>
            </a:r>
          </a:p>
          <a:p>
            <a:r>
              <a:rPr lang="en-US" dirty="0">
                <a:solidFill>
                  <a:schemeClr val="tx1"/>
                </a:solidFill>
              </a:rPr>
              <a:t>	const int  value = 10; </a:t>
            </a:r>
          </a:p>
          <a:p>
            <a:r>
              <a:rPr lang="en-US" dirty="0">
                <a:solidFill>
                  <a:schemeClr val="tx1"/>
                </a:solidFill>
              </a:rPr>
              <a:t>	int data; </a:t>
            </a:r>
          </a:p>
          <a:p>
            <a:r>
              <a:rPr lang="en-US" dirty="0">
                <a:solidFill>
                  <a:schemeClr val="tx1"/>
                </a:solidFill>
              </a:rPr>
              <a:t>	data =value*value; 	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("value of data : %d",value); 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7443" y="3406890"/>
            <a:ext cx="325314" cy="2246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1" name="Round Same Side Corner Rectangle 20"/>
          <p:cNvSpPr/>
          <p:nvPr/>
        </p:nvSpPr>
        <p:spPr>
          <a:xfrm>
            <a:off x="6527443" y="2163650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80909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Identifier</a:t>
            </a:r>
          </a:p>
        </p:txBody>
      </p:sp>
      <p:graphicFrame>
        <p:nvGraphicFramePr>
          <p:cNvPr id="16" name="Content Placeholder 6"/>
          <p:cNvGraphicFramePr>
            <a:graphicFrameLocks noGrp="1"/>
          </p:cNvGraphicFramePr>
          <p:nvPr>
            <p:ph idx="1"/>
          </p:nvPr>
        </p:nvGraphicFramePr>
        <p:xfrm>
          <a:off x="190500" y="860123"/>
          <a:ext cx="1933228" cy="507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562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1) </a:t>
                      </a:r>
                      <a:r>
                        <a:rPr lang="en-IN" sz="2200" u="none" strike="noStrike" dirty="0" err="1">
                          <a:effectLst/>
                        </a:rPr>
                        <a:t>Darshan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2) A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3) Age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4) void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5) MAX-ENTRIES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6) double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7) time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8) G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9) Sue's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10) return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" name="Content Placeholder 6"/>
          <p:cNvGraphicFramePr>
            <a:graphicFrameLocks/>
          </p:cNvGraphicFramePr>
          <p:nvPr/>
        </p:nvGraphicFramePr>
        <p:xfrm>
          <a:off x="4630678" y="860122"/>
          <a:ext cx="1805998" cy="5578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12) xyz123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13) part#2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14) "char" 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15) #include 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16) </a:t>
                      </a:r>
                      <a:r>
                        <a:rPr lang="en-IN" sz="2200" u="none" strike="noStrike" dirty="0" err="1">
                          <a:effectLst/>
                        </a:rPr>
                        <a:t>This_is_a</a:t>
                      </a:r>
                      <a:r>
                        <a:rPr lang="en-IN" sz="2200" u="none" strike="noStrike" dirty="0">
                          <a:effectLst/>
                        </a:rPr>
                        <a:t>_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17) _xyz 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18) 9xyz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19) main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20) mutable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21) double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39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22) </a:t>
                      </a:r>
                      <a:r>
                        <a:rPr lang="en-IN" sz="2200" u="none" strike="noStrike" dirty="0" err="1">
                          <a:effectLst/>
                        </a:rPr>
                        <a:t>max?out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145262" y="899810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5262" y="1399612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5262" y="1901883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5262" y="2405754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5262" y="2905556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5262" y="3407827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5262" y="3939095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5262" y="4438897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5262" y="4941168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5262" y="5436730"/>
            <a:ext cx="2079460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5162" y="874410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5162" y="1374212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5162" y="1876483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5162" y="2380354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5162" y="2880156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5162" y="3382427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25162" y="3913695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5162" y="4413497"/>
            <a:ext cx="265552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Standard identifier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5162" y="4915768"/>
            <a:ext cx="2323302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5162" y="5411330"/>
            <a:ext cx="2079460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25162" y="5911132"/>
            <a:ext cx="265552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</p:spTree>
    <p:extLst>
      <p:ext uri="{BB962C8B-B14F-4D97-AF65-F5344CB8AC3E}">
        <p14:creationId xmlns:p14="http://schemas.microsoft.com/office/powerpoint/2010/main" val="166009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Exercise: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31062" y="920912"/>
            <a:ext cx="3430983" cy="1936880"/>
            <a:chOff x="631062" y="920912"/>
            <a:chExt cx="3430983" cy="1936880"/>
          </a:xfrm>
        </p:grpSpPr>
        <p:sp>
          <p:nvSpPr>
            <p:cNvPr id="6" name="Round Same Side Corner Rectangle 5"/>
            <p:cNvSpPr/>
            <p:nvPr/>
          </p:nvSpPr>
          <p:spPr>
            <a:xfrm>
              <a:off x="631062" y="920912"/>
              <a:ext cx="1609859" cy="321972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Program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31062" y="1244669"/>
              <a:ext cx="3430983" cy="1613123"/>
              <a:chOff x="631062" y="1253461"/>
              <a:chExt cx="3430983" cy="1613123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030306" y="1253461"/>
                <a:ext cx="3031739" cy="16131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void main()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int student;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float marks;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}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631062" y="1253461"/>
                <a:ext cx="399245" cy="16131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1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2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3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4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5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6097687" y="1234091"/>
            <a:ext cx="5640043" cy="1908959"/>
            <a:chOff x="6097687" y="1242883"/>
            <a:chExt cx="5640043" cy="1908959"/>
          </a:xfrm>
        </p:grpSpPr>
        <p:sp>
          <p:nvSpPr>
            <p:cNvPr id="17" name="Rectangle 16"/>
            <p:cNvSpPr/>
            <p:nvPr/>
          </p:nvSpPr>
          <p:spPr>
            <a:xfrm>
              <a:off x="6432535" y="1242883"/>
              <a:ext cx="5305195" cy="19089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main()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a,b,c,res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res = 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a+b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*c; 	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(“result is : %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d",res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);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097687" y="1253460"/>
              <a:ext cx="334849" cy="18983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Round Same Side Corner Rectangle 18"/>
          <p:cNvSpPr/>
          <p:nvPr/>
        </p:nvSpPr>
        <p:spPr>
          <a:xfrm>
            <a:off x="6092294" y="914643"/>
            <a:ext cx="1609859" cy="321972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Program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31064" y="3862122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12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31062" y="3561276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Answer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095995" y="3561276"/>
            <a:ext cx="2743200" cy="729294"/>
            <a:chOff x="6095995" y="3561276"/>
            <a:chExt cx="2743200" cy="72929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6095995" y="3890460"/>
              <a:ext cx="27432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000" dirty="0">
                  <a:latin typeface="+mj-lt"/>
                </a:rPr>
                <a:t>30</a:t>
              </a:r>
            </a:p>
          </p:txBody>
        </p:sp>
        <p:sp>
          <p:nvSpPr>
            <p:cNvPr id="25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6095996" y="3561276"/>
              <a:ext cx="1280160" cy="329184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Answer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1059" y="4528312"/>
            <a:ext cx="3839337" cy="1344847"/>
            <a:chOff x="631059" y="4528312"/>
            <a:chExt cx="3839337" cy="13448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631059" y="4857496"/>
              <a:ext cx="3839337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+mj-lt"/>
                </a:rPr>
                <a:t>Keyword: void, </a:t>
              </a:r>
              <a:r>
                <a:rPr lang="en-US" sz="2000" dirty="0" err="1">
                  <a:latin typeface="+mj-lt"/>
                </a:rPr>
                <a:t>int</a:t>
              </a:r>
              <a:r>
                <a:rPr lang="en-US" sz="2000" dirty="0">
                  <a:latin typeface="+mj-lt"/>
                </a:rPr>
                <a:t>, float</a:t>
              </a:r>
            </a:p>
            <a:p>
              <a:r>
                <a:rPr lang="en-US" sz="2000" dirty="0">
                  <a:latin typeface="+mj-lt"/>
                </a:rPr>
                <a:t>Identifier: main, student, marks</a:t>
              </a:r>
            </a:p>
            <a:p>
              <a:r>
                <a:rPr lang="en-US" sz="2000" dirty="0">
                  <a:latin typeface="+mj-lt"/>
                </a:rPr>
                <a:t>Special symbols: (, ), ;, {, }</a:t>
              </a:r>
              <a:endParaRPr lang="pt-BR" sz="2000" dirty="0">
                <a:latin typeface="+mj-lt"/>
              </a:endParaRPr>
            </a:p>
          </p:txBody>
        </p:sp>
        <p:sp>
          <p:nvSpPr>
            <p:cNvPr id="27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631061" y="4528312"/>
              <a:ext cx="1609860" cy="357686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Explanation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092294" y="4528312"/>
            <a:ext cx="3843036" cy="1964388"/>
            <a:chOff x="6092294" y="4528312"/>
            <a:chExt cx="3843036" cy="196438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6095993" y="4861484"/>
              <a:ext cx="3839337" cy="1631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+mj-lt"/>
                </a:rPr>
                <a:t>Keyword: void, </a:t>
              </a:r>
              <a:r>
                <a:rPr lang="en-US" sz="2000" dirty="0" err="1">
                  <a:latin typeface="+mj-lt"/>
                </a:rPr>
                <a:t>int</a:t>
              </a:r>
              <a:endParaRPr lang="en-US" sz="2000" dirty="0">
                <a:latin typeface="+mj-lt"/>
              </a:endParaRPr>
            </a:p>
            <a:p>
              <a:r>
                <a:rPr lang="en-US" sz="2000" dirty="0">
                  <a:latin typeface="+mj-lt"/>
                </a:rPr>
                <a:t>Identifier: main, a, b, c, res, </a:t>
              </a:r>
              <a:r>
                <a:rPr lang="en-US" sz="2000" dirty="0" err="1">
                  <a:latin typeface="+mj-lt"/>
                </a:rPr>
                <a:t>printf</a:t>
              </a:r>
              <a:endParaRPr lang="en-US" sz="2000" dirty="0">
                <a:latin typeface="+mj-lt"/>
              </a:endParaRPr>
            </a:p>
            <a:p>
              <a:r>
                <a:rPr lang="en-US" sz="2000" dirty="0">
                  <a:latin typeface="+mj-lt"/>
                </a:rPr>
                <a:t>Special symbols: (, ), ;, {, }, ,(comma)</a:t>
              </a:r>
            </a:p>
            <a:p>
              <a:r>
                <a:rPr lang="en-US" sz="2000" dirty="0">
                  <a:latin typeface="+mj-lt"/>
                </a:rPr>
                <a:t>Operator: +,*,=</a:t>
              </a:r>
            </a:p>
            <a:p>
              <a:r>
                <a:rPr lang="en-US" sz="2000" dirty="0">
                  <a:latin typeface="+mj-lt"/>
                </a:rPr>
                <a:t>String: “result is : %d”</a:t>
              </a:r>
              <a:endParaRPr lang="pt-BR" sz="2000" dirty="0">
                <a:latin typeface="+mj-lt"/>
              </a:endParaRPr>
            </a:p>
          </p:txBody>
        </p:sp>
        <p:sp>
          <p:nvSpPr>
            <p:cNvPr id="31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6092294" y="4528312"/>
              <a:ext cx="1527706" cy="329184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Explanation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49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Match the following pairs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76208"/>
              </p:ext>
            </p:extLst>
          </p:nvPr>
        </p:nvGraphicFramePr>
        <p:xfrm>
          <a:off x="213743" y="1018540"/>
          <a:ext cx="2258289" cy="48209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198">
                  <a:extLst>
                    <a:ext uri="{9D8B030D-6E8A-4147-A177-3AD203B41FA5}">
                      <a16:colId xmlns:a16="http://schemas.microsoft.com/office/drawing/2014/main" val="3856223976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3999965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onsolas" panose="020B0609020204030204" pitchFamily="49" charset="0"/>
                        </a:rPr>
                        <a:t>\n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29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3.145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3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-6513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95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‘D’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1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4.25e-3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main()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2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%f, %d,</a:t>
                      </a:r>
                      <a:r>
                        <a:rPr lang="en-IN" baseline="0" dirty="0">
                          <a:latin typeface="Consolas" panose="020B0609020204030204" pitchFamily="49" charset="0"/>
                        </a:rPr>
                        <a:t> %c</a:t>
                      </a:r>
                      <a:endParaRPr lang="en-IN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4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6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44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88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8279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770228"/>
              </p:ext>
            </p:extLst>
          </p:nvPr>
        </p:nvGraphicFramePr>
        <p:xfrm>
          <a:off x="2622068" y="1021080"/>
          <a:ext cx="3323895" cy="4815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84550">
                  <a:extLst>
                    <a:ext uri="{9D8B030D-6E8A-4147-A177-3AD203B41FA5}">
                      <a16:colId xmlns:a16="http://schemas.microsoft.com/office/drawing/2014/main" val="2935520624"/>
                    </a:ext>
                  </a:extLst>
                </a:gridCol>
                <a:gridCol w="2639345">
                  <a:extLst>
                    <a:ext uri="{9D8B030D-6E8A-4147-A177-3AD203B41FA5}">
                      <a16:colId xmlns:a16="http://schemas.microsoft.com/office/drawing/2014/main" val="451012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Literal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0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Statement Terminator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3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Character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8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Escape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3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98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</a:t>
                      </a:r>
                      <a:r>
                        <a:rPr lang="en-IN" baseline="0" dirty="0"/>
                        <a:t> Constant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 of</a:t>
                      </a:r>
                      <a:r>
                        <a:rPr lang="en-IN" baseline="0" dirty="0"/>
                        <a:t> Operator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8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2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Format</a:t>
                      </a:r>
                      <a:r>
                        <a:rPr lang="en-IN" baseline="0" dirty="0"/>
                        <a:t> Specifier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0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36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808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69512"/>
              </p:ext>
            </p:extLst>
          </p:nvPr>
        </p:nvGraphicFramePr>
        <p:xfrm>
          <a:off x="8432449" y="1018540"/>
          <a:ext cx="3323895" cy="48209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09951">
                  <a:extLst>
                    <a:ext uri="{9D8B030D-6E8A-4147-A177-3AD203B41FA5}">
                      <a16:colId xmlns:a16="http://schemas.microsoft.com/office/drawing/2014/main" val="2935520624"/>
                    </a:ext>
                  </a:extLst>
                </a:gridCol>
                <a:gridCol w="2713944">
                  <a:extLst>
                    <a:ext uri="{9D8B030D-6E8A-4147-A177-3AD203B41FA5}">
                      <a16:colId xmlns:a16="http://schemas.microsoft.com/office/drawing/2014/main" val="451012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Escape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0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3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</a:t>
                      </a:r>
                      <a:r>
                        <a:rPr lang="en-IN" baseline="0" dirty="0"/>
                        <a:t> Constant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8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Character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3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98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Format</a:t>
                      </a:r>
                      <a:r>
                        <a:rPr lang="en-IN" baseline="0" dirty="0"/>
                        <a:t> Specifier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Statement Terminator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8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2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 of</a:t>
                      </a:r>
                      <a:r>
                        <a:rPr lang="en-IN" baseline="0" dirty="0"/>
                        <a:t> Operator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0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  <a:r>
                        <a:rPr lang="en-IN" baseline="0" dirty="0"/>
                        <a:t> </a:t>
                      </a:r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36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(5)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80816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675937"/>
              </p:ext>
            </p:extLst>
          </p:nvPr>
        </p:nvGraphicFramePr>
        <p:xfrm>
          <a:off x="6174160" y="1018540"/>
          <a:ext cx="2258289" cy="48209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198">
                  <a:extLst>
                    <a:ext uri="{9D8B030D-6E8A-4147-A177-3AD203B41FA5}">
                      <a16:colId xmlns:a16="http://schemas.microsoft.com/office/drawing/2014/main" val="3856223976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3999965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onsolas" panose="020B0609020204030204" pitchFamily="49" charset="0"/>
                        </a:rPr>
                        <a:t>\n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29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3.145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3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-6513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95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‘D’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1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4.25e-3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main()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2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%f, %d,</a:t>
                      </a:r>
                      <a:r>
                        <a:rPr lang="en-IN" baseline="0" dirty="0">
                          <a:latin typeface="Consolas" panose="020B0609020204030204" pitchFamily="49" charset="0"/>
                        </a:rPr>
                        <a:t> %c</a:t>
                      </a:r>
                      <a:endParaRPr lang="en-IN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4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6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44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88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8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2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Operators in 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17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 in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Arithmetic operators  (+, - , *, /, %)</a:t>
            </a:r>
          </a:p>
          <a:p>
            <a:r>
              <a:rPr lang="en-IN" dirty="0"/>
              <a:t>Relational operators  (&lt;, &lt;=, &gt;, &gt;=, ==, !=)</a:t>
            </a:r>
          </a:p>
          <a:p>
            <a:r>
              <a:rPr lang="en-IN" dirty="0"/>
              <a:t>Logical operators (&amp;&amp;, ||, !)</a:t>
            </a:r>
          </a:p>
          <a:p>
            <a:r>
              <a:rPr lang="en-IN" dirty="0"/>
              <a:t>Assignment operators (+=, -=, *=, /=)</a:t>
            </a:r>
          </a:p>
          <a:p>
            <a:r>
              <a:rPr lang="en-IN" dirty="0"/>
              <a:t>Increment and decrement operators  (++, --)</a:t>
            </a:r>
          </a:p>
          <a:p>
            <a:r>
              <a:rPr lang="en-IN" dirty="0"/>
              <a:t>Conditional operators (?:)</a:t>
            </a:r>
          </a:p>
          <a:p>
            <a:r>
              <a:rPr lang="en-IN" dirty="0"/>
              <a:t>Bitwise operators (&amp;, |, ^, &lt;&lt;, &gt;&gt;)</a:t>
            </a:r>
          </a:p>
          <a:p>
            <a:r>
              <a:rPr lang="en-IN" dirty="0"/>
              <a:t>Special operators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Arithmetic operators are used for </a:t>
            </a:r>
            <a:r>
              <a:rPr lang="en-IN" dirty="0">
                <a:solidFill>
                  <a:srgbClr val="C00000"/>
                </a:solidFill>
              </a:rPr>
              <a:t>mathematical calculation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830777"/>
              </p:ext>
            </p:extLst>
          </p:nvPr>
        </p:nvGraphicFramePr>
        <p:xfrm>
          <a:off x="692597" y="1556793"/>
          <a:ext cx="1089838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1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Operator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Meaning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Example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Addition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+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Addition of a and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2597" y="2349273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Subtraction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–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Subtraction of b from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2597" y="3519734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Modulo division- remainder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%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Modulo of a by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2597" y="3137256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Division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/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Division of a by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2597" y="2754778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*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Multiplication of a and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3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Relational operators are used to </a:t>
            </a:r>
            <a:r>
              <a:rPr lang="en-IN" dirty="0">
                <a:solidFill>
                  <a:srgbClr val="C00000"/>
                </a:solidFill>
              </a:rPr>
              <a:t>compare two numbers and taking decisions </a:t>
            </a:r>
            <a:r>
              <a:rPr lang="en-IN" dirty="0"/>
              <a:t>based on their relation. </a:t>
            </a:r>
          </a:p>
          <a:p>
            <a:r>
              <a:rPr lang="en-IN" dirty="0"/>
              <a:t>Relational expressions are used in decision statements such as if, for, while, etc…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293" y="2535587"/>
          <a:ext cx="1098854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Operator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Meaning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Example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Is less than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&lt; b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is less than b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296" y="3328067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&lt;=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less than or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&lt;=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less than or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296" y="3724307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greater than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&gt;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greater than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295" y="4098558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&gt;=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greater than or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&gt;=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greater than or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12294" y="4483803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==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==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293" y="4880043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!=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not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!=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not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4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operators are used to </a:t>
            </a:r>
            <a:r>
              <a:rPr lang="en-IN" dirty="0">
                <a:solidFill>
                  <a:srgbClr val="C00000"/>
                </a:solidFill>
              </a:rPr>
              <a:t>test more than one condition </a:t>
            </a:r>
            <a:r>
              <a:rPr lang="en-IN" dirty="0"/>
              <a:t>and make decisions.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687" y="1543914"/>
          <a:ext cx="930140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&amp;&amp;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logical AND (Both non zero then true, either is zero then false)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686" y="3404601"/>
          <a:ext cx="407258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a&amp;&amp;b 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a||b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687" y="2336394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| |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logical OR (Both zero then false, either is non zero then true)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686" y="2732634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logical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(It reverses the state of the answer)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686" y="4190011"/>
          <a:ext cx="407258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686" y="4586251"/>
          <a:ext cx="407258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686" y="4996632"/>
          <a:ext cx="407258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1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Assignment operators (=) is used to </a:t>
            </a:r>
            <a:r>
              <a:rPr lang="en-IN" dirty="0">
                <a:solidFill>
                  <a:srgbClr val="C00000"/>
                </a:solidFill>
              </a:rPr>
              <a:t>assign the result of an expression to a variable</a:t>
            </a:r>
            <a:r>
              <a:rPr lang="en-IN" dirty="0"/>
              <a:t>. </a:t>
            </a:r>
          </a:p>
          <a:p>
            <a:r>
              <a:rPr lang="en-IN" dirty="0"/>
              <a:t>Assignment operator stores a value in memory.</a:t>
            </a:r>
          </a:p>
          <a:p>
            <a:r>
              <a:rPr lang="en-IN" dirty="0"/>
              <a:t>C also supports shorthand assignment operators which simplify operation with assignment.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51882"/>
              </p:ext>
            </p:extLst>
          </p:nvPr>
        </p:nvGraphicFramePr>
        <p:xfrm>
          <a:off x="447898" y="2546206"/>
          <a:ext cx="791049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Assigns value of right side to left side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7900" y="3338686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+=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+= 1  is same as a = a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7899" y="3734926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-= 1  is same as a = a - 1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7898" y="4149254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*=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*= 1  is same as a = a *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47898" y="4545494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/=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/= 1  is same as a = a /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7898" y="4941734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%=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%= 1  is same as a = a %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44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Increment and Decrement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Increment (++) operator used to </a:t>
            </a:r>
            <a:r>
              <a:rPr lang="en-IN" dirty="0">
                <a:solidFill>
                  <a:srgbClr val="C00000"/>
                </a:solidFill>
              </a:rPr>
              <a:t>increase the value of the variable by one</a:t>
            </a:r>
            <a:r>
              <a:rPr lang="en-IN" dirty="0"/>
              <a:t>.</a:t>
            </a:r>
          </a:p>
          <a:p>
            <a:r>
              <a:rPr lang="en-IN" dirty="0"/>
              <a:t>Decrement (--) operator used to </a:t>
            </a:r>
            <a:r>
              <a:rPr lang="en-IN" dirty="0">
                <a:solidFill>
                  <a:srgbClr val="C00000"/>
                </a:solidFill>
              </a:rPr>
              <a:t>decrease the value of the variable by one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926480" y="2559879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x=100;</a:t>
            </a:r>
          </a:p>
          <a:p>
            <a:r>
              <a:rPr lang="en-US" sz="2000" dirty="0">
                <a:latin typeface="+mj-lt"/>
              </a:rPr>
              <a:t>x++;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926480" y="2221459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034841" y="2550643"/>
            <a:ext cx="33621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After the execution the value of x will be 101.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034840" y="2221459"/>
            <a:ext cx="14767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926480" y="3952976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x=100;</a:t>
            </a:r>
          </a:p>
          <a:p>
            <a:r>
              <a:rPr lang="en-US" sz="2000" dirty="0">
                <a:latin typeface="+mj-lt"/>
              </a:rPr>
              <a:t>x--;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926480" y="362379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034841" y="3952976"/>
            <a:ext cx="33621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After the execution the value of x will be 99.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034841" y="3623792"/>
            <a:ext cx="147679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183983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Increment and Decrement Operators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284530" y="874196"/>
          <a:ext cx="11499639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04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4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 increment operator (++x)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of x is incremented before assigning it to the variable on the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44304" y="2299894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x=10;</a:t>
            </a:r>
          </a:p>
          <a:p>
            <a:r>
              <a:rPr lang="en-US" sz="2000" dirty="0">
                <a:latin typeface="+mj-lt"/>
              </a:rPr>
              <a:t>p=++x;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44304" y="197071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029214" y="2303309"/>
            <a:ext cx="33621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First increment value of x by one then assign.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029214" y="1974125"/>
            <a:ext cx="1472102" cy="33842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8426328" y="2303309"/>
            <a:ext cx="245059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 will be 11</a:t>
            </a:r>
          </a:p>
          <a:p>
            <a:r>
              <a:rPr lang="en-US" sz="2000" dirty="0">
                <a:latin typeface="+mj-lt"/>
              </a:rPr>
              <a:t>p will be 11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8426328" y="1974125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363716"/>
              </p:ext>
            </p:extLst>
          </p:nvPr>
        </p:nvGraphicFramePr>
        <p:xfrm>
          <a:off x="258772" y="3229900"/>
          <a:ext cx="11525397" cy="1402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43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 increment operator (x++)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 value of x is stored in temporary variable then incremented  and after temporary</a:t>
                      </a:r>
                      <a:r>
                        <a:rPr lang="en-IN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variable value is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assigning it to the variable on the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44305" y="5285045"/>
            <a:ext cx="233071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x=10;</a:t>
            </a:r>
          </a:p>
          <a:p>
            <a:r>
              <a:rPr lang="en-US" sz="2000" dirty="0">
                <a:latin typeface="+mj-lt"/>
              </a:rPr>
              <a:t>p=x++;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44304" y="4955861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029214" y="5208722"/>
            <a:ext cx="4277504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First value of x is stored in temp variable then value of x is incremented and then value of temp variable is stored in p.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041677" y="4890312"/>
            <a:ext cx="1614203" cy="31994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8426328" y="5285045"/>
            <a:ext cx="2047708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 will be 11</a:t>
            </a:r>
          </a:p>
          <a:p>
            <a:r>
              <a:rPr lang="en-US" sz="2000" dirty="0">
                <a:latin typeface="+mj-lt"/>
              </a:rPr>
              <a:t>p will be 10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8426328" y="4955861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9" name="Rectangular Callout 18"/>
          <p:cNvSpPr/>
          <p:nvPr/>
        </p:nvSpPr>
        <p:spPr>
          <a:xfrm rot="4649483">
            <a:off x="2341751" y="4894157"/>
            <a:ext cx="1080567" cy="1235585"/>
          </a:xfrm>
          <a:prstGeom prst="wedgeRectCallout">
            <a:avLst>
              <a:gd name="adj1" fmla="val -2367"/>
              <a:gd name="adj2" fmla="val 105788"/>
            </a:avLst>
          </a:prstGeom>
          <a:solidFill>
            <a:schemeClr val="bg1">
              <a:lumMod val="9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r>
              <a:rPr lang="en-US" sz="2000" dirty="0">
                <a:solidFill>
                  <a:schemeClr val="tx1"/>
                </a:solidFill>
              </a:rPr>
              <a:t>temp = x;</a:t>
            </a:r>
          </a:p>
          <a:p>
            <a:r>
              <a:rPr lang="en-US" sz="2000" dirty="0">
                <a:solidFill>
                  <a:schemeClr val="tx1"/>
                </a:solidFill>
              </a:rPr>
              <a:t>x=x+1;</a:t>
            </a:r>
          </a:p>
          <a:p>
            <a:r>
              <a:rPr lang="en-US" sz="2000" dirty="0">
                <a:solidFill>
                  <a:schemeClr val="tx1"/>
                </a:solidFill>
              </a:rPr>
              <a:t>p = temp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7690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conditional operator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is known as </a:t>
            </a:r>
            <a:r>
              <a:rPr lang="en-IN" dirty="0">
                <a:solidFill>
                  <a:srgbClr val="C00000"/>
                </a:solidFill>
              </a:rPr>
              <a:t>ternary operator</a:t>
            </a:r>
            <a:r>
              <a:rPr lang="en-IN" dirty="0"/>
              <a:t>.</a:t>
            </a:r>
          </a:p>
          <a:p>
            <a:r>
              <a:rPr lang="en-IN" dirty="0"/>
              <a:t>Syntax:</a:t>
            </a:r>
            <a:r>
              <a:rPr lang="en-IN" i="1" dirty="0"/>
              <a:t> exp1 ? exp2 : exp3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62925" y="2194293"/>
            <a:ext cx="9784080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exp1 is evaluated first</a:t>
            </a:r>
          </a:p>
          <a:p>
            <a:r>
              <a:rPr lang="en-US" sz="2000" dirty="0">
                <a:latin typeface="+mj-lt"/>
              </a:rPr>
              <a:t>if exp1 is true(nonzero) then</a:t>
            </a:r>
          </a:p>
          <a:p>
            <a:r>
              <a:rPr lang="en-US" sz="2000" dirty="0">
                <a:latin typeface="+mj-lt"/>
              </a:rPr>
              <a:t>	- exp2 is evaluated and its value becomes the value of the expression</a:t>
            </a:r>
          </a:p>
          <a:p>
            <a:r>
              <a:rPr lang="en-US" sz="2000" dirty="0">
                <a:latin typeface="+mj-lt"/>
              </a:rPr>
              <a:t>If exp1 is false(zero) then</a:t>
            </a:r>
          </a:p>
          <a:p>
            <a:r>
              <a:rPr lang="en-US" sz="2000" dirty="0">
                <a:latin typeface="+mj-lt"/>
              </a:rPr>
              <a:t>	- exp3 is evaluated and its value becomes the value of the expression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62925" y="1865109"/>
            <a:ext cx="341634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Working of the ? : Operator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62925" y="4377954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+mj-lt"/>
              </a:rPr>
              <a:t>m=2, n=3;</a:t>
            </a:r>
          </a:p>
          <a:p>
            <a:r>
              <a:rPr lang="pt-BR" sz="2000" dirty="0">
                <a:latin typeface="+mj-lt"/>
              </a:rPr>
              <a:t>r=(m&gt;n) ? m : n;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62925" y="404877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810785" y="4377954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+mj-lt"/>
              </a:rPr>
              <a:t>m=2, n=3;</a:t>
            </a:r>
          </a:p>
          <a:p>
            <a:r>
              <a:rPr lang="pt-BR" sz="2000" dirty="0">
                <a:latin typeface="+mj-lt"/>
              </a:rPr>
              <a:t>r=(m&lt;n) ? m : n;</a:t>
            </a:r>
            <a:endParaRPr lang="en-US" sz="2000" dirty="0">
              <a:latin typeface="+mj-lt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810785" y="404877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62924" y="5420028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Value of r will be 3</a:t>
            </a:r>
            <a:endParaRPr lang="pt-BR" sz="2000" dirty="0">
              <a:latin typeface="+mj-lt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62925" y="5090844"/>
            <a:ext cx="1454918" cy="32418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810784" y="5420028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Value of r will be 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810785" y="5090844"/>
            <a:ext cx="1587542" cy="32418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6120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What is output?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4672413" y="833698"/>
            <a:ext cx="6656784" cy="2337730"/>
            <a:chOff x="4284485" y="888527"/>
            <a:chExt cx="6656784" cy="23377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4284486" y="1287265"/>
              <a:ext cx="6656783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4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    int a=0;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    a=5&gt;2 ? printf("4"): printf("3");</a:t>
              </a:r>
            </a:p>
            <a:p>
              <a:r>
                <a:rPr lang="pt-BR" sz="2400">
                  <a:latin typeface="Consolas" panose="020B0609020204030204" pitchFamily="49" charset="0"/>
                </a:rPr>
                <a:t>}</a:t>
              </a:r>
              <a:endParaRPr lang="pt-BR" sz="2400" dirty="0">
                <a:latin typeface="Consolas" panose="020B0609020204030204" pitchFamily="49" charset="0"/>
              </a:endParaRPr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4284485" y="888527"/>
              <a:ext cx="1555061" cy="3987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41309" y="1181380"/>
            <a:ext cx="4143175" cy="23687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void main()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int a=0;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a = (5&gt;2) ? 10 : 8;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printf("%</a:t>
            </a:r>
            <a:r>
              <a:rPr lang="en-US" sz="2400" dirty="0" err="1">
                <a:latin typeface="Consolas" panose="020B0609020204030204" pitchFamily="49" charset="0"/>
              </a:rPr>
              <a:t>d",a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pt-BR" sz="2400" dirty="0"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41309" y="4050434"/>
            <a:ext cx="5849588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void main()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int k = 8, m = 7, result;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result = k &gt; m ? k++ : m + 4;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printf("%</a:t>
            </a:r>
            <a:r>
              <a:rPr lang="en-US" sz="2400" dirty="0" err="1">
                <a:latin typeface="Consolas" panose="020B0609020204030204" pitchFamily="49" charset="0"/>
              </a:rPr>
              <a:t>d,%d</a:t>
            </a:r>
            <a:r>
              <a:rPr lang="en-US" sz="2400" dirty="0">
                <a:latin typeface="Consolas" panose="020B0609020204030204" pitchFamily="49" charset="0"/>
              </a:rPr>
              <a:t>", </a:t>
            </a:r>
            <a:r>
              <a:rPr lang="en-US" sz="2400" dirty="0" err="1">
                <a:latin typeface="Consolas" panose="020B0609020204030204" pitchFamily="49" charset="0"/>
              </a:rPr>
              <a:t>result,k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pt-BR" sz="2400" dirty="0">
              <a:latin typeface="Consolas" panose="020B0609020204030204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41308" y="772449"/>
            <a:ext cx="1555061" cy="39873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4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41307" y="3642011"/>
            <a:ext cx="1555061" cy="39873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400" dirty="0">
                <a:solidFill>
                  <a:srgbClr val="FFC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93160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Bitwise operators are used to perform </a:t>
            </a:r>
            <a:r>
              <a:rPr lang="en-IN" dirty="0">
                <a:solidFill>
                  <a:srgbClr val="C00000"/>
                </a:solidFill>
              </a:rPr>
              <a:t>operation bit by bit</a:t>
            </a:r>
            <a:r>
              <a:rPr lang="en-IN" dirty="0"/>
              <a:t>. </a:t>
            </a:r>
          </a:p>
          <a:p>
            <a:r>
              <a:rPr lang="en-IN" dirty="0"/>
              <a:t>Bitwise operators may not be applied to float or double.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196387"/>
              </p:ext>
            </p:extLst>
          </p:nvPr>
        </p:nvGraphicFramePr>
        <p:xfrm>
          <a:off x="409261" y="1917401"/>
          <a:ext cx="930140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&amp;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bitwise 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9261" y="2709881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|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bitwise 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9260" y="3106121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algn="ctr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bitwise exclusive 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9260" y="3516107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shift left (shift left means multiply by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9260" y="3929594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shift right (shift right means divide by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11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3118404" y="956540"/>
            <a:ext cx="585216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</a:rPr>
              <a:t>8 = 1000 (In Binary) and 6 = 0110 (In Binary)</a:t>
            </a:r>
            <a:endParaRPr lang="en-US" sz="2000" b="1" dirty="0">
              <a:effectLst/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3" y="1850271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a=8, b=6, c;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c = a &amp; b;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printf("Output = %d", c);</a:t>
            </a:r>
            <a:endParaRPr lang="pt-BR" sz="2000" dirty="0">
              <a:latin typeface="Consolas" panose="020B0609020204030204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1521087"/>
            <a:ext cx="3017520" cy="32527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Bitwise &amp; (AND)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3" y="1850270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a=8, b=6, c;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c = a | b;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</a:rPr>
              <a:t>("Output = %d", c);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3" y="1521087"/>
            <a:ext cx="2824761" cy="32527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 Bitwise | (OR)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2" y="3236737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0</a:t>
            </a:r>
            <a:endParaRPr lang="pt-BR" sz="2000" dirty="0">
              <a:latin typeface="+mj-lt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2908520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1" y="3220813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14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4" y="2907553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3" y="4229015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a=8, b;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b = a &lt;&lt; 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printf("Output = %d", b);</a:t>
            </a:r>
            <a:endParaRPr lang="pt-BR" sz="2000" dirty="0">
              <a:latin typeface="Consolas" panose="020B0609020204030204" pitchFamily="49" charset="0"/>
            </a:endParaRP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3899831"/>
            <a:ext cx="3535966" cy="329183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Bitwise &lt;&lt; (Shift Left)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3" y="4229014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a=8, b;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b = a &gt;&gt; 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printf("Output = %d", b);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4" y="3899831"/>
            <a:ext cx="3720688" cy="329183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 Bitwise &gt;&gt; (Shift Right)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2" y="5655120"/>
            <a:ext cx="475488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16 (multiplying a by a power of two)</a:t>
            </a:r>
            <a:endParaRPr lang="pt-BR" sz="2000" dirty="0">
              <a:latin typeface="+mj-lt"/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531925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1" y="5649678"/>
            <a:ext cx="475488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4 (dividing a by a power of two)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4" y="532049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238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 tricks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1308" y="757213"/>
            <a:ext cx="6202342" cy="2849390"/>
            <a:chOff x="141308" y="900088"/>
            <a:chExt cx="6202342" cy="28493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6202341" cy="2462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2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int a = 24;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printf("24/2=&gt;%d\n", (a &gt;&gt; 1));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printf("24/4=&gt;%d\n", (a &gt;&gt; 2));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printf("24/8=&gt;%d\n", (a &gt;&gt; 3));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6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7" name="Rounded Rectangular Callout 6"/>
          <p:cNvSpPr/>
          <p:nvPr/>
        </p:nvSpPr>
        <p:spPr>
          <a:xfrm>
            <a:off x="6972300" y="1144390"/>
            <a:ext cx="4848225" cy="919401"/>
          </a:xfrm>
          <a:prstGeom prst="wedgeRoundRectCallout">
            <a:avLst>
              <a:gd name="adj1" fmla="val -66142"/>
              <a:gd name="adj2" fmla="val 52399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Right shift (&gt;&gt;) operator is equivalent to division by 2</a:t>
            </a:r>
            <a:endParaRPr lang="en-IN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141308" y="3709963"/>
            <a:ext cx="6202342" cy="2849390"/>
            <a:chOff x="141308" y="900088"/>
            <a:chExt cx="6202342" cy="28493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6202341" cy="2462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2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int a = 12;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printf("12*2=&gt;%d\n", (a &lt;&lt; 1));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printf("12*4=&gt;%d\n", (a &lt;&lt; 2));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printf("12*8=&gt;%d\n", (a &lt;&lt; 3));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0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11" name="Rounded Rectangular Callout 10"/>
          <p:cNvSpPr/>
          <p:nvPr/>
        </p:nvSpPr>
        <p:spPr>
          <a:xfrm>
            <a:off x="6972300" y="4163815"/>
            <a:ext cx="4848225" cy="919401"/>
          </a:xfrm>
          <a:prstGeom prst="wedgeRoundRectCallout">
            <a:avLst>
              <a:gd name="adj1" fmla="val -66142"/>
              <a:gd name="adj2" fmla="val 52399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Left shift (&lt;&lt;) operator is equivalent to multiplication by 2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931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 tricks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1308" y="757213"/>
            <a:ext cx="8783617" cy="2172281"/>
            <a:chOff x="141308" y="900088"/>
            <a:chExt cx="8783617" cy="21722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8783616" cy="17851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2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    int n = 10;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    n &amp; 1? printf("ODD number"): printf("EVEN number");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}</a:t>
              </a:r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6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7" name="Rounded Rectangular Callout 6"/>
          <p:cNvSpPr/>
          <p:nvPr/>
        </p:nvSpPr>
        <p:spPr>
          <a:xfrm>
            <a:off x="9461143" y="1058147"/>
            <a:ext cx="2599921" cy="1736646"/>
          </a:xfrm>
          <a:prstGeom prst="wedgeRoundRectCallout">
            <a:avLst>
              <a:gd name="adj1" fmla="val -70619"/>
              <a:gd name="adj2" fmla="val -15733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 bitwise AND (&amp;) operator to check even or odd number</a:t>
            </a:r>
            <a:endParaRPr lang="en-IN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41308" y="3137658"/>
            <a:ext cx="8783617" cy="2510835"/>
            <a:chOff x="141308" y="900088"/>
            <a:chExt cx="8783617" cy="25108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8783616" cy="21236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200" dirty="0">
                  <a:latin typeface="Consolas" panose="020B0609020204030204" pitchFamily="49" charset="0"/>
                </a:rPr>
                <a:t>void main() 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	int num1 = 10;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	int num2 = 10;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	num1^num2 ? printf("Not Equal"): printf("Equal");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15" name="Rounded Rectangular Callout 14"/>
          <p:cNvSpPr/>
          <p:nvPr/>
        </p:nvSpPr>
        <p:spPr>
          <a:xfrm>
            <a:off x="9461142" y="3524835"/>
            <a:ext cx="2599921" cy="1736646"/>
          </a:xfrm>
          <a:prstGeom prst="wedgeRoundRectCallout">
            <a:avLst>
              <a:gd name="adj1" fmla="val -70619"/>
              <a:gd name="adj2" fmla="val -15733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 bitwise XOR (^) operator to check equality of two numbers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Operators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5838080"/>
              </p:ext>
            </p:extLst>
          </p:nvPr>
        </p:nvGraphicFramePr>
        <p:xfrm>
          <a:off x="468212" y="1069763"/>
          <a:ext cx="11047512" cy="914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&amp;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Address operator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, it is used to determine address of the variable.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468211" y="1984163"/>
          <a:ext cx="11047513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Pointer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 it is used to declare pointer variable and to get value from 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68210" y="2441363"/>
          <a:ext cx="11047514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Comma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It is used to link the related expressions together.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468210" y="2898563"/>
          <a:ext cx="11047514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sizeof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It returns the number of bytes the operand occupies.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468210" y="3355763"/>
          <a:ext cx="11047512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member selection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used in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468210" y="3812963"/>
          <a:ext cx="11047512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-&gt;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member selection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 used in pointer to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3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What is output?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582715" y="1062014"/>
            <a:ext cx="4523055" cy="2024943"/>
            <a:chOff x="141308" y="900088"/>
            <a:chExt cx="4889554" cy="30771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8" y="1339449"/>
              <a:ext cx="4889554" cy="26377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a=5,b=10,c=0;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c=(a++&amp;&amp;++b)||c;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("%d %d %d",</a:t>
              </a:r>
              <a:r>
                <a:rPr lang="en-US" sz="2000" dirty="0" err="1">
                  <a:latin typeface="Consolas" panose="020B0609020204030204" pitchFamily="49" charset="0"/>
                </a:rPr>
                <a:t>a,b,c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</a:p>
            <a:p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6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439361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6108" y="3676881"/>
            <a:ext cx="4523056" cy="1920341"/>
            <a:chOff x="141308" y="900088"/>
            <a:chExt cx="4889555" cy="25715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6"/>
              <a:ext cx="4889554" cy="21844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a+=(</a:t>
              </a:r>
              <a:r>
                <a:rPr lang="en-US" sz="2000" dirty="0" err="1">
                  <a:latin typeface="Consolas" panose="020B0609020204030204" pitchFamily="49" charset="0"/>
                </a:rPr>
                <a:t>a,a</a:t>
              </a:r>
              <a:r>
                <a:rPr lang="en-US" sz="2000" dirty="0">
                  <a:latin typeface="Consolas" panose="020B0609020204030204" pitchFamily="49" charset="0"/>
                </a:rPr>
                <a:t>+=15,a*10);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</a:t>
              </a:r>
              <a:r>
                <a:rPr lang="en-US" sz="2000" dirty="0" err="1">
                  <a:latin typeface="Consolas" panose="020B0609020204030204" pitchFamily="49" charset="0"/>
                </a:rPr>
                <a:t>d",a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17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3946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46108" y="1062014"/>
            <a:ext cx="4523056" cy="1990603"/>
            <a:chOff x="141308" y="900088"/>
            <a:chExt cx="4889555" cy="266568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4889554" cy="2278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a=5,b=10,c=0;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c=!(a++&amp;&amp;++b)||</a:t>
              </a:r>
              <a:r>
                <a:rPr lang="en-US" sz="2000" dirty="0" err="1">
                  <a:latin typeface="Consolas" panose="020B0609020204030204" pitchFamily="49" charset="0"/>
                </a:rPr>
                <a:t>c++</a:t>
              </a:r>
              <a:r>
                <a:rPr lang="en-US" sz="20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("%d %d %d",</a:t>
              </a:r>
              <a:r>
                <a:rPr lang="en-US" sz="2000" dirty="0" err="1">
                  <a:latin typeface="Consolas" panose="020B0609020204030204" pitchFamily="49" charset="0"/>
                </a:rPr>
                <a:t>a,b,c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</a:p>
            <a:p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20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3946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82714" y="3676881"/>
            <a:ext cx="4523056" cy="1920341"/>
            <a:chOff x="141308" y="900088"/>
            <a:chExt cx="4889555" cy="25715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6"/>
              <a:ext cx="4889554" cy="21844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a=a++;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</a:t>
              </a:r>
              <a:r>
                <a:rPr lang="en-US" sz="2000" dirty="0" err="1">
                  <a:latin typeface="Consolas" panose="020B0609020204030204" pitchFamily="49" charset="0"/>
                </a:rPr>
                <a:t>d",a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23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3946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5519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877165"/>
            <a:ext cx="11295495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Arithmetic Expressions &amp; Evaluation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5938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expression is a combination of operators, constants and variables. </a:t>
            </a:r>
          </a:p>
          <a:p>
            <a:r>
              <a:rPr lang="en-IN" dirty="0"/>
              <a:t>An expression may consist of one or more operands, and zero or more operators to produce a value.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63137" y="3557896"/>
            <a:ext cx="3609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answer   =    a    +    b    *    c; </a:t>
            </a:r>
          </a:p>
        </p:txBody>
      </p:sp>
      <p:sp>
        <p:nvSpPr>
          <p:cNvPr id="5" name="Rectangle 4"/>
          <p:cNvSpPr/>
          <p:nvPr/>
        </p:nvSpPr>
        <p:spPr>
          <a:xfrm>
            <a:off x="3772804" y="2547029"/>
            <a:ext cx="1371600" cy="365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Operand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195" y="4769731"/>
            <a:ext cx="27432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Consolas" panose="020B0609020204030204" pitchFamily="49" charset="0"/>
              </a:rPr>
              <a:t>Variable to store the expression value </a:t>
            </a:r>
          </a:p>
        </p:txBody>
      </p:sp>
      <p:cxnSp>
        <p:nvCxnSpPr>
          <p:cNvPr id="7" name="Elbow Connector 6"/>
          <p:cNvCxnSpPr/>
          <p:nvPr/>
        </p:nvCxnSpPr>
        <p:spPr>
          <a:xfrm rot="5400000" flipH="1" flipV="1">
            <a:off x="3324814" y="4063631"/>
            <a:ext cx="851191" cy="561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194258" y="2550514"/>
            <a:ext cx="1371600" cy="365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Operand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15712" y="2561011"/>
            <a:ext cx="1371600" cy="365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Operand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8152" y="4763227"/>
            <a:ext cx="1645920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Operator 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5068" y="4762277"/>
            <a:ext cx="149733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</a:rPr>
              <a:t>Operator 2</a:t>
            </a:r>
          </a:p>
        </p:txBody>
      </p:sp>
      <p:cxnSp>
        <p:nvCxnSpPr>
          <p:cNvPr id="12" name="Elbow Connector 11"/>
          <p:cNvCxnSpPr/>
          <p:nvPr/>
        </p:nvCxnSpPr>
        <p:spPr>
          <a:xfrm rot="5400000" flipH="1" flipV="1">
            <a:off x="4797158" y="4238626"/>
            <a:ext cx="928205" cy="134004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16200000" flipV="1">
            <a:off x="5902803" y="3914490"/>
            <a:ext cx="995743" cy="726797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6200000" flipH="1">
            <a:off x="4304444" y="3014721"/>
            <a:ext cx="737457" cy="540734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>
            <a:off x="5329309" y="3277536"/>
            <a:ext cx="675615" cy="4990"/>
          </a:xfrm>
          <a:prstGeom prst="bentConnector3">
            <a:avLst>
              <a:gd name="adj1" fmla="val 2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>
            <a:off x="6351523" y="2987892"/>
            <a:ext cx="723476" cy="625171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60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of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834" y="737533"/>
            <a:ext cx="6190598" cy="5590565"/>
          </a:xfrm>
        </p:spPr>
        <p:txBody>
          <a:bodyPr/>
          <a:lstStyle/>
          <a:p>
            <a:r>
              <a:rPr lang="en-IN" dirty="0"/>
              <a:t>When there are multiple operators in an expression, they are evaluated according to their precedence and associativity. </a:t>
            </a:r>
          </a:p>
          <a:p>
            <a:r>
              <a:rPr lang="en-IN" dirty="0"/>
              <a:t>While evaluating an arithmetic statement, some issues may cope up. For example, does the expression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2 * x – 3 * y</a:t>
            </a:r>
            <a:r>
              <a:rPr lang="en-IN" dirty="0"/>
              <a:t> correspond to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(2x)-(3y) </a:t>
            </a:r>
            <a:r>
              <a:rPr lang="en-IN" dirty="0"/>
              <a:t>or to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2(x-3y)</a:t>
            </a:r>
            <a:r>
              <a:rPr lang="en-IN" dirty="0"/>
              <a:t>?</a:t>
            </a:r>
          </a:p>
          <a:p>
            <a:r>
              <a:rPr lang="en-IN" dirty="0"/>
              <a:t>An expression is evaluated based on the </a:t>
            </a:r>
            <a:r>
              <a:rPr lang="en-IN" dirty="0">
                <a:solidFill>
                  <a:srgbClr val="C00000"/>
                </a:solidFill>
              </a:rPr>
              <a:t>operator precedence and associativity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79131"/>
              </p:ext>
            </p:extLst>
          </p:nvPr>
        </p:nvGraphicFramePr>
        <p:xfrm>
          <a:off x="310415" y="737533"/>
          <a:ext cx="5400000" cy="5850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7137">
                  <a:extLst>
                    <a:ext uri="{9D8B030D-6E8A-4147-A177-3AD203B41FA5}">
                      <a16:colId xmlns:a16="http://schemas.microsoft.com/office/drawing/2014/main" val="858943818"/>
                    </a:ext>
                  </a:extLst>
                </a:gridCol>
                <a:gridCol w="1731146">
                  <a:extLst>
                    <a:ext uri="{9D8B030D-6E8A-4147-A177-3AD203B41FA5}">
                      <a16:colId xmlns:a16="http://schemas.microsoft.com/office/drawing/2014/main" val="247994639"/>
                    </a:ext>
                  </a:extLst>
                </a:gridCol>
                <a:gridCol w="1501717">
                  <a:extLst>
                    <a:ext uri="{9D8B030D-6E8A-4147-A177-3AD203B41FA5}">
                      <a16:colId xmlns:a16="http://schemas.microsoft.com/office/drawing/2014/main" val="18489164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rgbClr val="FF0000"/>
                          </a:solidFill>
                        </a:rPr>
                        <a:t>Operator</a:t>
                      </a:r>
                      <a:endParaRPr lang="en-IN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rgbClr val="FF0000"/>
                          </a:solidFill>
                        </a:rPr>
                        <a:t> Type</a:t>
                      </a:r>
                      <a:endParaRPr lang="en-IN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rgbClr val="FF0000"/>
                          </a:solidFill>
                        </a:rPr>
                        <a:t>Associativity</a:t>
                      </a:r>
                      <a:endParaRPr lang="en-IN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5127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 ()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 []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 .  -&gt;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Parentheses</a:t>
                      </a:r>
                      <a:r>
                        <a:rPr lang="en-GB" sz="1600" baseline="0" dirty="0"/>
                        <a:t> and selection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Left</a:t>
                      </a:r>
                      <a:r>
                        <a:rPr lang="en-GB" sz="1600" baseline="0" dirty="0"/>
                        <a:t> to Right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048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kern="1200" dirty="0"/>
                        <a:t>++ -- +  - !  ~ (type) * &amp; </a:t>
                      </a:r>
                      <a:r>
                        <a:rPr lang="en-IN" sz="1600" kern="1200" dirty="0" err="1"/>
                        <a:t>Sizeof</a:t>
                      </a:r>
                      <a:endParaRPr lang="en-IN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kern="1200" dirty="0"/>
                        <a:t>Unary Operator</a:t>
                      </a:r>
                      <a:endParaRPr lang="en-IN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kern="1200" dirty="0"/>
                        <a:t>Right to Left</a:t>
                      </a:r>
                      <a:endParaRPr lang="en-IN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41795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*</a:t>
                      </a:r>
                      <a:r>
                        <a:rPr lang="en-IN" sz="1600" baseline="0" dirty="0"/>
                        <a:t> / </a:t>
                      </a:r>
                      <a:r>
                        <a:rPr lang="en-IN" sz="1600" dirty="0"/>
                        <a:t>%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 Arithmetic operator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03998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-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Arithmetic operator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1475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&lt;&lt;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&gt;&gt;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Shift</a:t>
                      </a:r>
                      <a:r>
                        <a:rPr lang="en-GB" sz="1600" baseline="0" dirty="0"/>
                        <a:t> operator</a:t>
                      </a:r>
                      <a:endParaRPr lang="en-GB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4998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&lt;=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&gt;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&gt;=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Relational</a:t>
                      </a:r>
                      <a:r>
                        <a:rPr lang="en-GB" sz="1600" baseline="0" dirty="0"/>
                        <a:t> operator</a:t>
                      </a:r>
                      <a:endParaRPr lang="en-GB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1895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==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!=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Relational</a:t>
                      </a:r>
                      <a:r>
                        <a:rPr lang="en-GB" sz="1600" baseline="0" dirty="0"/>
                        <a:t> operator</a:t>
                      </a:r>
                      <a:endParaRPr lang="en-GB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3384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&amp;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Bitwise AND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1412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^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Bitwise exclusive 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0745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|</a:t>
                      </a:r>
                      <a:endParaRPr lang="en-IN" sz="1600" b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Bitwise inclusive 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1212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&amp;&amp;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Logical AND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052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||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Logical OR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1788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?: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Ternary conditional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Right to Left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4673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= += -= *= /=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dirty="0"/>
                        <a:t>%= &amp;= ^=|=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dirty="0"/>
                        <a:t>&lt;&lt;=  &gt;&gt;=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Assignment</a:t>
                      </a:r>
                      <a:r>
                        <a:rPr lang="en-GB" sz="1600" baseline="0" dirty="0"/>
                        <a:t> operator</a:t>
                      </a:r>
                      <a:endParaRPr lang="en-GB" sz="160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Right to Left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57764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kern="1200" dirty="0"/>
                        <a:t>, 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kern="1200" dirty="0"/>
                        <a:t>Comma operator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959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6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of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expression is evaluated based on the </a:t>
            </a:r>
            <a:r>
              <a:rPr lang="en-IN" dirty="0">
                <a:solidFill>
                  <a:srgbClr val="C00000"/>
                </a:solidFill>
              </a:rPr>
              <a:t>operator precedence and associativity</a:t>
            </a:r>
            <a:r>
              <a:rPr lang="en-IN" dirty="0"/>
              <a:t>. </a:t>
            </a:r>
          </a:p>
          <a:p>
            <a:r>
              <a:rPr lang="en-IN" dirty="0"/>
              <a:t>When there are multiple operators in an expression, they are evaluated according to their precedence and associativity.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precedence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Precedence of an operator is its </a:t>
            </a:r>
            <a:r>
              <a:rPr lang="en-IN" dirty="0">
                <a:solidFill>
                  <a:srgbClr val="C00000"/>
                </a:solidFill>
              </a:rPr>
              <a:t>priority </a:t>
            </a:r>
            <a:r>
              <a:rPr lang="en-IN" dirty="0"/>
              <a:t>in an expression for evaluation.</a:t>
            </a:r>
          </a:p>
          <a:p>
            <a:r>
              <a:rPr lang="en-IN" dirty="0"/>
              <a:t>The operator with higher precedence is evaluated first and the operator with the least precedence is evaluated last.</a:t>
            </a:r>
          </a:p>
          <a:p>
            <a:r>
              <a:rPr lang="en-IN" dirty="0"/>
              <a:t>Operator precedence is why the expression </a:t>
            </a:r>
            <a:r>
              <a:rPr lang="en-IN" dirty="0">
                <a:solidFill>
                  <a:srgbClr val="C00000"/>
                </a:solidFill>
              </a:rPr>
              <a:t>5 + 3 * 2 </a:t>
            </a:r>
            <a:r>
              <a:rPr lang="en-IN" dirty="0"/>
              <a:t>is calculated as </a:t>
            </a:r>
            <a:r>
              <a:rPr lang="en-IN" dirty="0">
                <a:solidFill>
                  <a:srgbClr val="C00000"/>
                </a:solidFill>
              </a:rPr>
              <a:t>5 + (3 * 2), </a:t>
            </a:r>
            <a:r>
              <a:rPr lang="en-IN" dirty="0"/>
              <a:t>giving </a:t>
            </a:r>
            <a:r>
              <a:rPr lang="en-IN" dirty="0">
                <a:solidFill>
                  <a:srgbClr val="C00000"/>
                </a:solidFill>
              </a:rPr>
              <a:t>11</a:t>
            </a:r>
            <a:r>
              <a:rPr lang="en-IN" dirty="0"/>
              <a:t>, and not as </a:t>
            </a:r>
            <a:r>
              <a:rPr lang="en-IN" dirty="0">
                <a:solidFill>
                  <a:srgbClr val="C00000"/>
                </a:solidFill>
              </a:rPr>
              <a:t>(5 + 3) * 2</a:t>
            </a:r>
            <a:r>
              <a:rPr lang="en-IN" dirty="0"/>
              <a:t>, giving </a:t>
            </a:r>
            <a:r>
              <a:rPr lang="en-IN" dirty="0">
                <a:solidFill>
                  <a:srgbClr val="C00000"/>
                </a:solidFill>
              </a:rPr>
              <a:t>16</a:t>
            </a:r>
            <a:r>
              <a:rPr lang="en-IN" dirty="0"/>
              <a:t>.</a:t>
            </a:r>
          </a:p>
          <a:p>
            <a:r>
              <a:rPr lang="en-IN" dirty="0"/>
              <a:t>We say that the multiplication operator </a:t>
            </a:r>
            <a:r>
              <a:rPr lang="en-IN" dirty="0">
                <a:solidFill>
                  <a:srgbClr val="C00000"/>
                </a:solidFill>
              </a:rPr>
              <a:t>(*)</a:t>
            </a:r>
            <a:r>
              <a:rPr lang="en-IN" dirty="0"/>
              <a:t> has higher "precedence" or "priority" than the addition operator </a:t>
            </a:r>
            <a:r>
              <a:rPr lang="en-IN" dirty="0">
                <a:solidFill>
                  <a:srgbClr val="C00000"/>
                </a:solidFill>
              </a:rPr>
              <a:t>(+)</a:t>
            </a:r>
            <a:r>
              <a:rPr lang="en-IN" dirty="0"/>
              <a:t>, so the multiplication must be performed first.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associativity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Associativity is the </a:t>
            </a:r>
            <a:r>
              <a:rPr lang="en-IN" dirty="0">
                <a:solidFill>
                  <a:srgbClr val="C00000"/>
                </a:solidFill>
              </a:rPr>
              <a:t>left-to-right</a:t>
            </a:r>
            <a:r>
              <a:rPr lang="en-IN" dirty="0"/>
              <a:t> or </a:t>
            </a:r>
            <a:r>
              <a:rPr lang="en-IN" dirty="0">
                <a:solidFill>
                  <a:srgbClr val="C00000"/>
                </a:solidFill>
              </a:rPr>
              <a:t>right-to-left</a:t>
            </a:r>
            <a:r>
              <a:rPr lang="en-IN" dirty="0"/>
              <a:t> order for grouping operands to operators that have the same precedence.</a:t>
            </a:r>
          </a:p>
          <a:p>
            <a:r>
              <a:rPr lang="en-IN" dirty="0"/>
              <a:t>Operator associativity is why the expression </a:t>
            </a:r>
            <a:r>
              <a:rPr lang="en-IN" dirty="0">
                <a:solidFill>
                  <a:srgbClr val="C00000"/>
                </a:solidFill>
              </a:rPr>
              <a:t>8 - 3 - 2 </a:t>
            </a:r>
            <a:r>
              <a:rPr lang="en-IN" dirty="0"/>
              <a:t>is calculated as </a:t>
            </a:r>
            <a:r>
              <a:rPr lang="en-IN" dirty="0">
                <a:solidFill>
                  <a:srgbClr val="C00000"/>
                </a:solidFill>
              </a:rPr>
              <a:t>(8 - 3) - 2</a:t>
            </a:r>
            <a:r>
              <a:rPr lang="en-IN" dirty="0"/>
              <a:t>, giving </a:t>
            </a:r>
            <a:r>
              <a:rPr lang="en-IN" dirty="0">
                <a:solidFill>
                  <a:srgbClr val="C00000"/>
                </a:solidFill>
              </a:rPr>
              <a:t>3</a:t>
            </a:r>
            <a:r>
              <a:rPr lang="en-IN" dirty="0"/>
              <a:t>, and not as </a:t>
            </a:r>
            <a:r>
              <a:rPr lang="en-IN" dirty="0">
                <a:solidFill>
                  <a:srgbClr val="C00000"/>
                </a:solidFill>
              </a:rPr>
              <a:t>8 - (3 - 2)</a:t>
            </a:r>
            <a:r>
              <a:rPr lang="en-IN" dirty="0"/>
              <a:t>, giving </a:t>
            </a:r>
            <a:r>
              <a:rPr lang="en-IN" dirty="0">
                <a:solidFill>
                  <a:srgbClr val="C00000"/>
                </a:solidFill>
              </a:rPr>
              <a:t>7</a:t>
            </a:r>
            <a:r>
              <a:rPr lang="en-IN" dirty="0"/>
              <a:t>.</a:t>
            </a:r>
          </a:p>
          <a:p>
            <a:r>
              <a:rPr lang="en-IN" dirty="0"/>
              <a:t>We say that the subtraction operator </a:t>
            </a:r>
            <a:r>
              <a:rPr lang="en-IN" dirty="0">
                <a:solidFill>
                  <a:srgbClr val="C00000"/>
                </a:solidFill>
              </a:rPr>
              <a:t>(-)</a:t>
            </a:r>
            <a:r>
              <a:rPr lang="en-IN" dirty="0"/>
              <a:t> is </a:t>
            </a:r>
            <a:r>
              <a:rPr lang="en-IN" dirty="0">
                <a:solidFill>
                  <a:srgbClr val="C00000"/>
                </a:solidFill>
              </a:rPr>
              <a:t>"left associative"</a:t>
            </a:r>
            <a:r>
              <a:rPr lang="en-IN" dirty="0"/>
              <a:t>, so the left subtraction must be performed first. </a:t>
            </a:r>
          </a:p>
          <a:p>
            <a:r>
              <a:rPr lang="en-IN" dirty="0"/>
              <a:t>When we can't decide by operator precedence alone in which order to calculate an expression, we must use associativity.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37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Arithmetic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x = 7 + 3 * 6 / 2 - 1;</a:t>
            </a:r>
          </a:p>
          <a:p>
            <a:r>
              <a:rPr lang="en-IN" dirty="0">
                <a:latin typeface="Consolas" panose="020B0609020204030204" pitchFamily="49" charset="0"/>
              </a:rPr>
              <a:t>Output: 15</a:t>
            </a:r>
          </a:p>
          <a:p>
            <a:r>
              <a:rPr lang="en-IN" dirty="0">
                <a:latin typeface="Consolas" panose="020B0609020204030204" pitchFamily="49" charset="0"/>
              </a:rPr>
              <a:t>x = 2 % 2 + 2 * 2 – 2 / 2;</a:t>
            </a:r>
          </a:p>
          <a:p>
            <a:r>
              <a:rPr lang="en-IN" dirty="0">
                <a:latin typeface="Consolas" panose="020B0609020204030204" pitchFamily="49" charset="0"/>
              </a:rPr>
              <a:t>Output: 3</a:t>
            </a:r>
          </a:p>
          <a:p>
            <a:r>
              <a:rPr lang="en-IN" dirty="0">
                <a:latin typeface="Consolas" panose="020B0609020204030204" pitchFamily="49" charset="0"/>
              </a:rPr>
              <a:t>X = 2 * 3 / 4 + 4 / 4 + 8 – 2 + 5 / 8;</a:t>
            </a:r>
          </a:p>
          <a:p>
            <a:r>
              <a:rPr lang="en-IN" dirty="0">
                <a:latin typeface="Consolas" panose="020B0609020204030204" pitchFamily="49" charset="0"/>
              </a:rPr>
              <a:t>Output: 8</a:t>
            </a:r>
          </a:p>
          <a:p>
            <a:r>
              <a:rPr lang="en-IN" dirty="0">
                <a:latin typeface="Consolas" panose="020B0609020204030204" pitchFamily="49" charset="0"/>
              </a:rPr>
              <a:t>x = ( 3 * 9 * ( 3 + ( 9 * 3 / ( 3 ) ) ) );</a:t>
            </a:r>
          </a:p>
          <a:p>
            <a:r>
              <a:rPr lang="en-IN" dirty="0">
                <a:latin typeface="Consolas" panose="020B0609020204030204" pitchFamily="49" charset="0"/>
              </a:rPr>
              <a:t>Output: 324</a:t>
            </a:r>
          </a:p>
          <a:p>
            <a:r>
              <a:rPr lang="en-IN" dirty="0">
                <a:latin typeface="Consolas" panose="020B0609020204030204" pitchFamily="49" charset="0"/>
              </a:rPr>
              <a:t>x = 10/5/2/1;</a:t>
            </a:r>
          </a:p>
          <a:p>
            <a:r>
              <a:rPr lang="en-IN" dirty="0">
                <a:latin typeface="Consolas" panose="020B0609020204030204" pitchFamily="49" charset="0"/>
              </a:rPr>
              <a:t>Output: 1</a:t>
            </a:r>
          </a:p>
          <a:p>
            <a:r>
              <a:rPr lang="en-IN" dirty="0">
                <a:latin typeface="Consolas" panose="020B0609020204030204" pitchFamily="49" charset="0"/>
              </a:rPr>
              <a:t>x = 2-3+5*2/8%3;</a:t>
            </a:r>
          </a:p>
          <a:p>
            <a:r>
              <a:rPr lang="en-IN" dirty="0">
                <a:latin typeface="Consolas" panose="020B0609020204030204" pitchFamily="49" charset="0"/>
              </a:rPr>
              <a:t>Output: 0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4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Arithmetic Expression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8660361" y="1231530"/>
            <a:ext cx="2743200" cy="919527"/>
            <a:chOff x="7233458" y="756745"/>
            <a:chExt cx="2743200" cy="9195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7233458" y="1171710"/>
              <a:ext cx="2743200" cy="5045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2000" dirty="0">
                  <a:solidFill>
                    <a:schemeClr val="bg1"/>
                  </a:solidFill>
                  <a:latin typeface="Consolas" panose="020B0609020204030204" pitchFamily="49" charset="0"/>
                </a:rPr>
                <a:t>-84</a:t>
              </a:r>
            </a:p>
          </p:txBody>
        </p:sp>
        <p:sp>
          <p:nvSpPr>
            <p:cNvPr id="11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7233459" y="756745"/>
              <a:ext cx="1280160" cy="414965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Output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67346" y="1231530"/>
            <a:ext cx="7794825" cy="2723289"/>
            <a:chOff x="226669" y="756745"/>
            <a:chExt cx="7794825" cy="2723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226669" y="1171710"/>
              <a:ext cx="7794825" cy="2308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2400" dirty="0" err="1">
                  <a:latin typeface="Consolas" panose="020B0609020204030204" pitchFamily="49" charset="0"/>
                </a:rPr>
                <a:t>void</a:t>
              </a:r>
              <a:r>
                <a:rPr lang="fr-FR" sz="2400" dirty="0">
                  <a:latin typeface="Consolas" panose="020B0609020204030204" pitchFamily="49" charset="0"/>
                </a:rPr>
                <a:t> main()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	int a=3,b=2,x=5,y=4,ans;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	ans = 5*b*b*x-3*a*y*y-8*b*b*x+10*a*y;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	printf("%</a:t>
              </a:r>
              <a:r>
                <a:rPr lang="fr-FR" sz="2400" dirty="0" err="1">
                  <a:latin typeface="Consolas" panose="020B0609020204030204" pitchFamily="49" charset="0"/>
                </a:rPr>
                <a:t>d",ans</a:t>
              </a:r>
              <a:r>
                <a:rPr lang="fr-FR" sz="24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}</a:t>
              </a:r>
              <a:endParaRPr lang="pt-BR" sz="2400" dirty="0">
                <a:latin typeface="Consolas" panose="020B0609020204030204" pitchFamily="49" charset="0"/>
              </a:endParaRPr>
            </a:p>
          </p:txBody>
        </p:sp>
        <p:sp>
          <p:nvSpPr>
            <p:cNvPr id="22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226669" y="756745"/>
              <a:ext cx="1312045" cy="414965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61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Type Conversion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180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conversion is converting one type of data to another type. </a:t>
            </a:r>
          </a:p>
          <a:p>
            <a:r>
              <a:rPr lang="en-US" dirty="0"/>
              <a:t>It is also known as </a:t>
            </a:r>
            <a:r>
              <a:rPr lang="en-US" dirty="0">
                <a:solidFill>
                  <a:srgbClr val="C00000"/>
                </a:solidFill>
              </a:rPr>
              <a:t>Type Casting</a:t>
            </a:r>
            <a:r>
              <a:rPr lang="en-US" dirty="0"/>
              <a:t>.</a:t>
            </a:r>
          </a:p>
          <a:p>
            <a:r>
              <a:rPr lang="en-US" dirty="0"/>
              <a:t>There are two types of type conversion:</a:t>
            </a:r>
          </a:p>
          <a:p>
            <a:pPr lvl="1"/>
            <a:r>
              <a:rPr lang="fr-FR" dirty="0">
                <a:solidFill>
                  <a:srgbClr val="C00000"/>
                </a:solidFill>
              </a:rPr>
              <a:t>Implicit</a:t>
            </a:r>
            <a:r>
              <a:rPr lang="fr-FR" dirty="0">
                <a:solidFill>
                  <a:srgbClr val="92D050"/>
                </a:solidFill>
              </a:rPr>
              <a:t> </a:t>
            </a:r>
            <a:r>
              <a:rPr lang="fr-FR" dirty="0"/>
              <a:t>Type Conversion</a:t>
            </a:r>
          </a:p>
          <a:p>
            <a:pPr lvl="2"/>
            <a:r>
              <a:rPr lang="en-US" dirty="0"/>
              <a:t>This type of conversion is usually performed by the compiler when necessary without any commands by the user. </a:t>
            </a:r>
          </a:p>
          <a:p>
            <a:pPr lvl="2"/>
            <a:r>
              <a:rPr lang="en-US" dirty="0"/>
              <a:t>It is also called Automatic Type Conversion.</a:t>
            </a:r>
          </a:p>
          <a:p>
            <a:pPr lvl="1"/>
            <a:r>
              <a:rPr lang="fr-FR" dirty="0">
                <a:solidFill>
                  <a:srgbClr val="C00000"/>
                </a:solidFill>
              </a:rPr>
              <a:t>Explicit </a:t>
            </a:r>
            <a:r>
              <a:rPr lang="fr-FR" dirty="0"/>
              <a:t>Type Conversion</a:t>
            </a:r>
            <a:endParaRPr lang="en-US" dirty="0"/>
          </a:p>
          <a:p>
            <a:pPr lvl="2"/>
            <a:r>
              <a:rPr lang="en-US" dirty="0"/>
              <a:t>These conversions are done explicitly by users using the pre-defined functions.</a:t>
            </a:r>
            <a:endParaRPr lang="en-IN" dirty="0"/>
          </a:p>
          <a:p>
            <a:pPr lvl="2"/>
            <a:endParaRPr lang="fr-FR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398399" y="4404341"/>
            <a:ext cx="408507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01B92"/>
                </a:solidFill>
                <a:latin typeface="+mj-lt"/>
              </a:rPr>
              <a:t>int </a:t>
            </a:r>
            <a:r>
              <a:rPr lang="en-US" dirty="0">
                <a:latin typeface="+mj-lt"/>
              </a:rPr>
              <a:t>a = 20;</a:t>
            </a:r>
          </a:p>
          <a:p>
            <a:r>
              <a:rPr lang="en-US" dirty="0">
                <a:solidFill>
                  <a:srgbClr val="301B92"/>
                </a:solidFill>
                <a:latin typeface="+mj-lt"/>
              </a:rPr>
              <a:t>double</a:t>
            </a:r>
            <a:r>
              <a:rPr lang="en-US" dirty="0">
                <a:latin typeface="+mj-lt"/>
              </a:rPr>
              <a:t> b = 20.5;</a:t>
            </a:r>
          </a:p>
          <a:p>
            <a:r>
              <a:rPr lang="en-US" dirty="0">
                <a:solidFill>
                  <a:srgbClr val="EA1E63"/>
                </a:solidFill>
                <a:latin typeface="+mj-lt"/>
              </a:rPr>
              <a:t>printf</a:t>
            </a:r>
            <a:r>
              <a:rPr lang="en-US" dirty="0">
                <a:latin typeface="+mj-lt"/>
              </a:rPr>
              <a:t>("%lf", a + b);</a:t>
            </a:r>
            <a:endParaRPr lang="pt-BR" dirty="0">
              <a:latin typeface="+mj-lt"/>
            </a:endParaRP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000786" y="4091227"/>
            <a:ext cx="32918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Example: Implicit Type Conversion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557204" y="4394417"/>
            <a:ext cx="539496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01B92"/>
                </a:solidFill>
                <a:latin typeface="+mj-lt"/>
              </a:rPr>
              <a:t>double </a:t>
            </a:r>
            <a:r>
              <a:rPr lang="en-US" dirty="0">
                <a:latin typeface="+mj-lt"/>
              </a:rPr>
              <a:t>a = 4.5, b = 4.6, c = 4.9;</a:t>
            </a:r>
          </a:p>
          <a:p>
            <a:r>
              <a:rPr lang="en-US" dirty="0">
                <a:solidFill>
                  <a:srgbClr val="301B92"/>
                </a:solidFill>
                <a:latin typeface="+mj-lt"/>
              </a:rPr>
              <a:t>int </a:t>
            </a:r>
            <a:r>
              <a:rPr lang="en-US" dirty="0">
                <a:latin typeface="+mj-lt"/>
              </a:rPr>
              <a:t>result =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a +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b +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c; </a:t>
            </a:r>
          </a:p>
          <a:p>
            <a:r>
              <a:rPr lang="en-US" dirty="0">
                <a:solidFill>
                  <a:srgbClr val="EA1E63"/>
                </a:solidFill>
                <a:latin typeface="+mj-lt"/>
              </a:rPr>
              <a:t>printf</a:t>
            </a:r>
            <a:r>
              <a:rPr lang="en-US" dirty="0">
                <a:latin typeface="+mj-lt"/>
              </a:rPr>
              <a:t>("result = %d", result);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159591" y="4075157"/>
            <a:ext cx="32918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Example:  Explicit Type Conversion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000784" y="5943118"/>
            <a:ext cx="2743200" cy="3657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FFFF"/>
                </a:solidFill>
                <a:latin typeface="+mj-lt"/>
              </a:rPr>
              <a:t>40.500000</a:t>
            </a:r>
            <a:endParaRPr lang="pt-BR" dirty="0">
              <a:solidFill>
                <a:srgbClr val="EEFFFF"/>
              </a:solidFill>
              <a:latin typeface="+mj-lt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000785" y="561393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159589" y="5927048"/>
            <a:ext cx="2743200" cy="3657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FFFF"/>
                </a:solidFill>
                <a:latin typeface="+mj-lt"/>
              </a:rPr>
              <a:t>12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159590" y="559786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0785" y="4420410"/>
            <a:ext cx="397614" cy="90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590" y="4386067"/>
            <a:ext cx="397614" cy="90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873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Formatted Output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58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format specification for printing an integer number is: </a:t>
            </a:r>
            <a:r>
              <a:rPr lang="en-IN" b="1" dirty="0">
                <a:solidFill>
                  <a:srgbClr val="C00000"/>
                </a:solidFill>
              </a:rPr>
              <a:t>%</a:t>
            </a:r>
            <a:r>
              <a:rPr lang="en-IN" b="1" i="1" dirty="0">
                <a:solidFill>
                  <a:srgbClr val="C00000"/>
                </a:solidFill>
              </a:rPr>
              <a:t>w d</a:t>
            </a:r>
          </a:p>
          <a:p>
            <a:r>
              <a:rPr lang="en-IN" dirty="0"/>
              <a:t>where </a:t>
            </a:r>
            <a:r>
              <a:rPr lang="en-IN" b="1" dirty="0">
                <a:solidFill>
                  <a:srgbClr val="C00000"/>
                </a:solidFill>
              </a:rPr>
              <a:t>w</a:t>
            </a:r>
            <a:r>
              <a:rPr lang="en-IN" dirty="0"/>
              <a:t> specifies the minimum field width for the output. However, if a number is greater than the specified field width, it will be printed in full.</a:t>
            </a:r>
          </a:p>
          <a:p>
            <a:r>
              <a:rPr lang="en-IN" dirty="0"/>
              <a:t>The number is written right justified in the given field width.</a:t>
            </a:r>
          </a:p>
          <a:p>
            <a:r>
              <a:rPr lang="en-IN" dirty="0"/>
              <a:t>It is possible to force the printing to be left-justified by placing a minus sign directly after the %character.</a:t>
            </a:r>
          </a:p>
        </p:txBody>
      </p:sp>
    </p:spTree>
    <p:extLst>
      <p:ext uri="{BB962C8B-B14F-4D97-AF65-F5344CB8AC3E}">
        <p14:creationId xmlns:p14="http://schemas.microsoft.com/office/powerpoint/2010/main" val="15479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 integers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04090"/>
              </p:ext>
            </p:extLst>
          </p:nvPr>
        </p:nvGraphicFramePr>
        <p:xfrm>
          <a:off x="2032000" y="1160691"/>
          <a:ext cx="8128000" cy="454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96323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4233375"/>
                    </a:ext>
                  </a:extLst>
                </a:gridCol>
              </a:tblGrid>
              <a:tr h="4536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Format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09610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/>
                        <a:t>printf(“%d”,9876)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776583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(“%6d”,9876)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3647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/>
                        <a:t>printf(“%d”,9876)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38337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(“%-6d”,9876)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32689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(“%06d”,9876)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44993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69642"/>
              </p:ext>
            </p:extLst>
          </p:nvPr>
        </p:nvGraphicFramePr>
        <p:xfrm>
          <a:off x="6542475" y="1732415"/>
          <a:ext cx="198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000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20117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93230"/>
              </p:ext>
            </p:extLst>
          </p:nvPr>
        </p:nvGraphicFramePr>
        <p:xfrm>
          <a:off x="6542475" y="2562502"/>
          <a:ext cx="3028950" cy="5319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67943656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11318674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531917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21181"/>
              </p:ext>
            </p:extLst>
          </p:nvPr>
        </p:nvGraphicFramePr>
        <p:xfrm>
          <a:off x="6542475" y="3438431"/>
          <a:ext cx="198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000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20117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76673"/>
              </p:ext>
            </p:extLst>
          </p:nvPr>
        </p:nvGraphicFramePr>
        <p:xfrm>
          <a:off x="6542475" y="4155574"/>
          <a:ext cx="3028950" cy="537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67943656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11318674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53706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11163"/>
              </p:ext>
            </p:extLst>
          </p:nvPr>
        </p:nvGraphicFramePr>
        <p:xfrm>
          <a:off x="6542475" y="5031148"/>
          <a:ext cx="3028950" cy="537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67943656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11318674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53706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30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107781" y="2447747"/>
            <a:ext cx="2743200" cy="2308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01012345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-12345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-12345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107781" y="2032782"/>
            <a:ext cx="1280160" cy="414965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400" dirty="0">
                <a:solidFill>
                  <a:srgbClr val="FFC000"/>
                </a:solidFill>
              </a:rPr>
              <a:t>Output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6669" y="878683"/>
            <a:ext cx="4881112" cy="4242987"/>
            <a:chOff x="226669" y="878683"/>
            <a:chExt cx="4881112" cy="424298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226670" y="1336018"/>
              <a:ext cx="4881111" cy="3785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4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int m = 12345;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printf("%10d\n",m);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printf("010%d\n",m);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printf("%-10d\n",m);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printf("%-10d\n",-m);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printf("%10d\n",-m);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5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226669" y="878683"/>
              <a:ext cx="2766562" cy="457335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Formatted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792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 real/float numbers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865109"/>
              </p:ext>
            </p:extLst>
          </p:nvPr>
        </p:nvGraphicFramePr>
        <p:xfrm>
          <a:off x="2032000" y="1619859"/>
          <a:ext cx="8128000" cy="367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96323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4233375"/>
                    </a:ext>
                  </a:extLst>
                </a:gridCol>
              </a:tblGrid>
              <a:tr h="455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09610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printf("%7.4f",m);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776583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printf("%7.2f",m);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3647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printf("%-7.2f",m);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38337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</a:t>
                      </a:r>
                      <a:r>
                        <a:rPr lang="en-IN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f",m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3268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271619"/>
              </p:ext>
            </p:extLst>
          </p:nvPr>
        </p:nvGraphicFramePr>
        <p:xfrm>
          <a:off x="6191158" y="3108045"/>
          <a:ext cx="3816001" cy="3826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38261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311418"/>
              </p:ext>
            </p:extLst>
          </p:nvPr>
        </p:nvGraphicFramePr>
        <p:xfrm>
          <a:off x="6191158" y="2302592"/>
          <a:ext cx="381600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48200"/>
              </p:ext>
            </p:extLst>
          </p:nvPr>
        </p:nvGraphicFramePr>
        <p:xfrm>
          <a:off x="6191158" y="3925271"/>
          <a:ext cx="381600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3489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50864"/>
              </p:ext>
            </p:extLst>
          </p:nvPr>
        </p:nvGraphicFramePr>
        <p:xfrm>
          <a:off x="6191158" y="4725645"/>
          <a:ext cx="381600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51864" y="942750"/>
            <a:ext cx="3073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fr-FR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m = 98.7654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60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Programming allows us to perform mathematical operations through the functions defined in </a:t>
            </a:r>
            <a:r>
              <a:rPr lang="en-US" dirty="0">
                <a:solidFill>
                  <a:srgbClr val="C00000"/>
                </a:solidFill>
              </a:rPr>
              <a:t>&lt;math.h&gt; </a:t>
            </a:r>
            <a:r>
              <a:rPr lang="en-US" dirty="0"/>
              <a:t>header file.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63805"/>
              </p:ext>
            </p:extLst>
          </p:nvPr>
        </p:nvGraphicFramePr>
        <p:xfrm>
          <a:off x="473654" y="2156078"/>
          <a:ext cx="1158716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Sr</a:t>
                      </a:r>
                    </a:p>
                    <a:p>
                      <a:pPr algn="r"/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ceil(number)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rounds up the given number &amp; returns the integer value which is greater than or equal to given number.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38063"/>
              </p:ext>
            </p:extLst>
          </p:nvPr>
        </p:nvGraphicFramePr>
        <p:xfrm>
          <a:off x="473654" y="3525765"/>
          <a:ext cx="1158716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floor(number)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rounds down the given number &amp; returns the integer value which is less than or equal to given number.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163612"/>
              </p:ext>
            </p:extLst>
          </p:nvPr>
        </p:nvGraphicFramePr>
        <p:xfrm>
          <a:off x="473654" y="4194411"/>
          <a:ext cx="1158716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2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sqrt(number)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returns the square root of given number.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6355"/>
              </p:ext>
            </p:extLst>
          </p:nvPr>
        </p:nvGraphicFramePr>
        <p:xfrm>
          <a:off x="473654" y="4619217"/>
          <a:ext cx="1158716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pow(base,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exponent)</a:t>
                      </a:r>
                      <a:endParaRPr lang="en-US" sz="1800" b="0" dirty="0">
                        <a:solidFill>
                          <a:srgbClr val="333333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returns the power of given number.</a:t>
                      </a:r>
                      <a:endParaRPr lang="en-US" sz="2000" b="0" dirty="0">
                        <a:solidFill>
                          <a:srgbClr val="333333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6814"/>
              </p:ext>
            </p:extLst>
          </p:nvPr>
        </p:nvGraphicFramePr>
        <p:xfrm>
          <a:off x="473654" y="5090824"/>
          <a:ext cx="1158716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abs(number)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returns the absolute value of given number.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39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>
            <a:off x="321972" y="1023096"/>
            <a:ext cx="18301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Math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1972" y="1352282"/>
            <a:ext cx="450761" cy="44573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2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5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6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7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8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9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10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11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12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1314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733" y="1352281"/>
            <a:ext cx="7170540" cy="4457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#include 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&lt;stdio.h&gt;  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#include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&lt;math.h&gt;    </a:t>
            </a:r>
          </a:p>
          <a:p>
            <a:r>
              <a:rPr lang="en-US" sz="2000" dirty="0">
                <a:solidFill>
                  <a:srgbClr val="301B92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{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(“Ceil: %f",ceil(3.6));    </a:t>
            </a:r>
          </a:p>
          <a:p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       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("\nCeil: %f",ceil(3.3));    </a:t>
            </a:r>
          </a:p>
          <a:p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       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("\nFloor: %f",floor(3.6));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("\nFloor: %f",floor(3.2));    </a:t>
            </a:r>
          </a:p>
          <a:p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       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("\nSquare Root: %f",sqrt(16));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("\nSquare Root: %f",sqrt(7));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("\nPower: %f",pow(2,4));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("\nPower: %f",pow(3,3));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("\nAbsolute: %d",abs(-12));   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   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8263164" y="1187688"/>
            <a:ext cx="3744109" cy="286232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Ceil: 4.000000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Ceil: 4.000000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Floor: 3.000000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Floor: 3.000000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Square Root: 4.000000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Square Root: 2.645751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Power: 16.000000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Power: 27.000000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Absolute: 12</a:t>
            </a:r>
          </a:p>
        </p:txBody>
      </p:sp>
      <p:sp>
        <p:nvSpPr>
          <p:cNvPr id="9" name="Rectangle: Top Corners Rounded 7">
            <a:extLst>
              <a:ext uri="{FF2B5EF4-FFF2-40B4-BE49-F238E27FC236}">
                <a16:creationId xmlns:a16="http://schemas.microsoft.com/office/drawing/2014/main" id="{44F07624-C23C-4B43-A144-CB0878CB992A}"/>
              </a:ext>
            </a:extLst>
          </p:cNvPr>
          <p:cNvSpPr/>
          <p:nvPr/>
        </p:nvSpPr>
        <p:spPr>
          <a:xfrm>
            <a:off x="8263163" y="858504"/>
            <a:ext cx="103785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4869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Thank you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33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7141</Words>
  <Application>Microsoft Office PowerPoint</Application>
  <PresentationFormat>Widescreen</PresentationFormat>
  <Paragraphs>1509</Paragraphs>
  <Slides>82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1" baseType="lpstr">
      <vt:lpstr>Wingdings 3</vt:lpstr>
      <vt:lpstr>Arial</vt:lpstr>
      <vt:lpstr>Consolas</vt:lpstr>
      <vt:lpstr>Calibri</vt:lpstr>
      <vt:lpstr>Roboto Condensed Light</vt:lpstr>
      <vt:lpstr>Roboto Condensed</vt:lpstr>
      <vt:lpstr>Wingdings</vt:lpstr>
      <vt:lpstr>Wingdings 2</vt:lpstr>
      <vt:lpstr>Office Theme</vt:lpstr>
      <vt:lpstr>Unit-1  Overview of C</vt:lpstr>
      <vt:lpstr>PowerPoint Presentation</vt:lpstr>
      <vt:lpstr>Algorithm and Flowchart</vt:lpstr>
      <vt:lpstr>Algorithm and Flowchart</vt:lpstr>
      <vt:lpstr>Symbols used in flowchart</vt:lpstr>
      <vt:lpstr>Number is positive or negative (Flowchart and Algorithm)</vt:lpstr>
      <vt:lpstr>Number is odd or even (Flowchart and Algorithm)</vt:lpstr>
      <vt:lpstr>Largest number from 2 numbers (Flowchart and Algorithm)</vt:lpstr>
      <vt:lpstr>Largest number from 3 numbers (Flowchart)</vt:lpstr>
      <vt:lpstr>Largest number from 3 numbers (Algorithm)</vt:lpstr>
      <vt:lpstr>Print 1 to 10</vt:lpstr>
      <vt:lpstr>Prime Number (Flowchart)</vt:lpstr>
      <vt:lpstr>Factorial (Flowchart)</vt:lpstr>
      <vt:lpstr>Overview of C</vt:lpstr>
      <vt:lpstr>Why C? </vt:lpstr>
      <vt:lpstr>Why C? (Continue)</vt:lpstr>
      <vt:lpstr>Why C? (Continue)</vt:lpstr>
      <vt:lpstr>History Of C</vt:lpstr>
      <vt:lpstr>Importance Of C</vt:lpstr>
      <vt:lpstr>Header Files</vt:lpstr>
      <vt:lpstr>Header Files</vt:lpstr>
      <vt:lpstr>Header Files</vt:lpstr>
      <vt:lpstr>Hello World</vt:lpstr>
      <vt:lpstr>Simple Hello World Program</vt:lpstr>
      <vt:lpstr>Escape Sequence</vt:lpstr>
      <vt:lpstr>Practice printf()</vt:lpstr>
      <vt:lpstr>Structure of C programs</vt:lpstr>
      <vt:lpstr>Structure of C Program</vt:lpstr>
      <vt:lpstr>Data Types</vt:lpstr>
      <vt:lpstr>Data Types</vt:lpstr>
      <vt:lpstr>Primary Data Type</vt:lpstr>
      <vt:lpstr>Primary Data Type (cont…)</vt:lpstr>
      <vt:lpstr>Primary Data Type (cont…)</vt:lpstr>
      <vt:lpstr>Input &amp; Output operation</vt:lpstr>
      <vt:lpstr>Input &amp; Output Operations</vt:lpstr>
      <vt:lpstr>printf()</vt:lpstr>
      <vt:lpstr>scanf()</vt:lpstr>
      <vt:lpstr>scanf() (cont…)</vt:lpstr>
      <vt:lpstr>Exercise</vt:lpstr>
      <vt:lpstr>Exercise</vt:lpstr>
      <vt:lpstr>Input &amp; Output Operations</vt:lpstr>
      <vt:lpstr>Tokens</vt:lpstr>
      <vt:lpstr>Keywords</vt:lpstr>
      <vt:lpstr>Identifier</vt:lpstr>
      <vt:lpstr>Constants</vt:lpstr>
      <vt:lpstr>Exercise: Identifier</vt:lpstr>
      <vt:lpstr>Exercise:</vt:lpstr>
      <vt:lpstr>Exercise: Match the following pairs </vt:lpstr>
      <vt:lpstr>Operators in C</vt:lpstr>
      <vt:lpstr>Operators in C</vt:lpstr>
      <vt:lpstr>Arithmetic Operators</vt:lpstr>
      <vt:lpstr>Relational Operators</vt:lpstr>
      <vt:lpstr>Logical Operators</vt:lpstr>
      <vt:lpstr>Assignment Operators</vt:lpstr>
      <vt:lpstr>Increment and Decrement Operators</vt:lpstr>
      <vt:lpstr>Increment and Decrement Operators (cont…)</vt:lpstr>
      <vt:lpstr>Conditional Operators</vt:lpstr>
      <vt:lpstr>Exercise: What is output?</vt:lpstr>
      <vt:lpstr>Bitwise Operators</vt:lpstr>
      <vt:lpstr>Bitwise Operators</vt:lpstr>
      <vt:lpstr>Bitwise operators tricks</vt:lpstr>
      <vt:lpstr>Bitwise operators tricks</vt:lpstr>
      <vt:lpstr>Special Operators</vt:lpstr>
      <vt:lpstr>Exercise: What is output?</vt:lpstr>
      <vt:lpstr>Arithmetic Expressions &amp; Evaluation</vt:lpstr>
      <vt:lpstr>Arithmetic Expressions</vt:lpstr>
      <vt:lpstr>Evaluation of Expressions</vt:lpstr>
      <vt:lpstr>Evaluation of Expressions</vt:lpstr>
      <vt:lpstr>Operator precedence </vt:lpstr>
      <vt:lpstr>Operator associativity</vt:lpstr>
      <vt:lpstr>Exercise: Arithmetic Expression</vt:lpstr>
      <vt:lpstr>Exercise: Arithmetic Expression</vt:lpstr>
      <vt:lpstr>Type Conversion</vt:lpstr>
      <vt:lpstr>Type conversion</vt:lpstr>
      <vt:lpstr>Formatted Output</vt:lpstr>
      <vt:lpstr>Formatted Output</vt:lpstr>
      <vt:lpstr>Formatted Output integers</vt:lpstr>
      <vt:lpstr>Formatted Output</vt:lpstr>
      <vt:lpstr>Formatted Output real/float numbers</vt:lpstr>
      <vt:lpstr>Math Functions</vt:lpstr>
      <vt:lpstr>Math Functions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HareKrishna</cp:lastModifiedBy>
  <cp:revision>423</cp:revision>
  <dcterms:created xsi:type="dcterms:W3CDTF">2020-05-01T05:09:15Z</dcterms:created>
  <dcterms:modified xsi:type="dcterms:W3CDTF">2024-09-17T09:58:09Z</dcterms:modified>
</cp:coreProperties>
</file>